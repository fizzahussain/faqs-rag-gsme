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72" r:id="rId1"/>
  </p:sldMasterIdLst>
  <p:notesMasterIdLst>
    <p:notesMasterId r:id="rId11"/>
  </p:notesMasterIdLst>
  <p:sldIdLst>
    <p:sldId id="264" r:id="rId2"/>
    <p:sldId id="257" r:id="rId3"/>
    <p:sldId id="258" r:id="rId4"/>
    <p:sldId id="259" r:id="rId5"/>
    <p:sldId id="260" r:id="rId6"/>
    <p:sldId id="261" r:id="rId7"/>
    <p:sldId id="262" r:id="rId8"/>
    <p:sldId id="263" r:id="rId9"/>
    <p:sldId id="265"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F7202"/>
    <a:srgbClr val="226C08"/>
    <a:srgbClr val="1361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3" d="100"/>
          <a:sy n="113" d="100"/>
        </p:scale>
        <p:origin x="47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6251354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the business problem in plain language. The organization receives the same type of knowledge in files that are formatted differently. The parser removes that inconsistency before any later storage or search decision.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Clarify that hybrid refers to several parsing methods selected by file structure. It does not refer to semantic and structured search in this demo.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the browser page for the live demo. Upload the table DOCX first, then a styled question-and-answer DOCX, followed by one CSV. Keep the strategy on Auto-detect.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Emphasize consistency. Word and PDF FAQ layouts differ, but the business result remains a question linked to its answer. CSV output keeps dates and technology fields structured.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JSON is evidence, not a technical deep dive. Point to the strategy used, record count, one extracted record, and the warnings list.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State the scope clearly. OCR and databases can be added later, but they would distract from the immediate question: can the parser reliably extract the required records?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with the decision needed from stakeholders: confirm whether the parser output preserves the expected business information. Storage and search remain a separate later decision.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562888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B61BEF0D-F0BB-DE4B-95CE-6DB70DBA9567}" type="datetimeFigureOut">
              <a:rPr lang="en-US" smtClean="0"/>
              <a:pPr/>
              <a:t>10/2/2026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443695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870008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10/2/2026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38569740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10/2/2026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051683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B61BEF0D-F0BB-DE4B-95CE-6DB70DBA9567}" type="datetimeFigureOut">
              <a:rPr lang="en-US" smtClean="0"/>
              <a:pPr/>
              <a:t>10/2/2026</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79705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B61BEF0D-F0BB-DE4B-95CE-6DB70DBA9567}" type="datetimeFigureOut">
              <a:rPr lang="en-US" smtClean="0"/>
              <a:pPr/>
              <a:t>10/2/2026</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542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42A54C80-263E-416B-A8E0-580EDEADCBDC}" type="datetimeFigureOut">
              <a:rPr lang="en-US" smtClean="0"/>
              <a:t>10/2/2026</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41769463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10/2/2026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639096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10/2/2026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660787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946681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8228308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995925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B61BEF0D-F0BB-DE4B-95CE-6DB70DBA9567}" type="datetimeFigureOut">
              <a:rPr lang="en-US" smtClean="0"/>
              <a:pPr/>
              <a:t>10/2/2026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195081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B61BEF0D-F0BB-DE4B-95CE-6DB70DBA9567}" type="datetimeFigureOut">
              <a:rPr lang="en-US" smtClean="0"/>
              <a:pPr/>
              <a:t>10/2/2026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709045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10/2/2026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19216879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398452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B61BEF0D-F0BB-DE4B-95CE-6DB70DBA9567}" type="datetimeFigureOut">
              <a:rPr lang="en-US" smtClean="0"/>
              <a:pPr/>
              <a:t>10/2/2026</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98612556"/>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hyperlink" Target="http://localhost:8000/docs" TargetMode="External"/><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srcRect t="27" b="27"/>
          <a:stretch>
            <a:fillRect/>
          </a:stretch>
        </p:blipFill>
        <p:spPr>
          <a:xfrm>
            <a:off x="0" y="0"/>
            <a:ext cx="12192000" cy="6858000"/>
          </a:xfrm>
          <a:prstGeom prst="rect">
            <a:avLst/>
          </a:prstGeom>
        </p:spPr>
      </p:pic>
      <p:sp>
        <p:nvSpPr>
          <p:cNvPr id="2" name="cover-overlay">
            <a:extLst>
              <a:ext uri="{FF2B5EF4-FFF2-40B4-BE49-F238E27FC236}">
                <a16:creationId xmlns:a16="http://schemas.microsoft.com/office/drawing/2014/main" id="{5768A582-57FD-46E2-94F3-DF84E4EB8748}"/>
              </a:ext>
            </a:extLst>
          </p:cNvPr>
          <p:cNvSpPr>
            <a:spLocks noGrp="1"/>
          </p:cNvSpPr>
          <p:nvPr/>
        </p:nvSpPr>
        <p:spPr>
          <a:xfrm>
            <a:off x="0" y="0"/>
            <a:ext cx="12192000" cy="6858000"/>
          </a:xfrm>
          <a:prstGeom prst="rect">
            <a:avLst/>
          </a:prstGeom>
          <a:solidFill>
            <a:schemeClr val="accent4">
              <a:lumMod val="75000"/>
              <a:alpha val="62000"/>
            </a:schemeClr>
          </a:solidFill>
          <a:ln w="0">
            <a:noFill/>
          </a:ln>
        </p:spPr>
        <p:txBody>
          <a:bodyPr/>
          <a:lstStyle/>
          <a:p>
            <a:endParaRPr lang="en-US" dirty="0"/>
          </a:p>
        </p:txBody>
      </p:sp>
      <p:sp>
        <p:nvSpPr>
          <p:cNvPr id="3" name="Rectangle 2">
            <a:extLst>
              <a:ext uri="{FF2B5EF4-FFF2-40B4-BE49-F238E27FC236}">
                <a16:creationId xmlns:a16="http://schemas.microsoft.com/office/drawing/2014/main" id="{DF046E28-346E-4DCC-8057-85AAE0CDF093}"/>
              </a:ext>
            </a:extLst>
          </p:cNvPr>
          <p:cNvSpPr>
            <a:spLocks noGrp="1"/>
          </p:cNvSpPr>
          <p:nvPr/>
        </p:nvSpPr>
        <p:spPr>
          <a:xfrm>
            <a:off x="685800" y="1524000"/>
            <a:ext cx="6286500" cy="895350"/>
          </a:xfrm>
          <a:prstGeom prst="rect">
            <a:avLst/>
          </a:prstGeom>
          <a:noFill/>
          <a:ln w="0">
            <a:noFill/>
          </a:ln>
        </p:spPr>
        <p:txBody>
          <a:bodyPr wrap="square" lIns="28575" tIns="19050" rIns="28575" bIns="19050" anchor="t">
            <a:normAutofit/>
          </a:bodyPr>
          <a:lstStyle/>
          <a:p>
            <a:pPr algn="l">
              <a:lnSpc>
                <a:spcPct val="100000"/>
              </a:lnSpc>
              <a:buNone/>
              <a:defRPr sz="3900" b="1">
                <a:solidFill>
                  <a:srgbClr val="FFFFFF"/>
                </a:solidFill>
                <a:latin typeface="Nimbus Sans"/>
                <a:ea typeface="Nimbus Sans"/>
                <a:cs typeface="Nimbus Sans"/>
              </a:defRPr>
            </a:pPr>
            <a:r>
              <a:rPr sz="3900" b="1">
                <a:solidFill>
                  <a:srgbClr val="FFFFFF"/>
                </a:solidFill>
                <a:latin typeface="Nimbus Sans"/>
                <a:ea typeface="Nimbus Sans"/>
                <a:cs typeface="Nimbus Sans"/>
              </a:rPr>
              <a:t>GSME Parsing Demo</a:t>
            </a:r>
          </a:p>
        </p:txBody>
      </p:sp>
      <p:sp>
        <p:nvSpPr>
          <p:cNvPr id="4" name="Rectangle 3">
            <a:extLst>
              <a:ext uri="{FF2B5EF4-FFF2-40B4-BE49-F238E27FC236}">
                <a16:creationId xmlns:a16="http://schemas.microsoft.com/office/drawing/2014/main" id="{390B9F32-1289-4AC9-BF13-EC5999FB1A33}"/>
              </a:ext>
            </a:extLst>
          </p:cNvPr>
          <p:cNvSpPr>
            <a:spLocks noGrp="1"/>
          </p:cNvSpPr>
          <p:nvPr/>
        </p:nvSpPr>
        <p:spPr>
          <a:xfrm>
            <a:off x="723900" y="2552700"/>
            <a:ext cx="5715000" cy="800100"/>
          </a:xfrm>
          <a:prstGeom prst="rect">
            <a:avLst/>
          </a:prstGeom>
          <a:noFill/>
          <a:ln w="0">
            <a:noFill/>
          </a:ln>
        </p:spPr>
        <p:txBody>
          <a:bodyPr wrap="square" lIns="28575" tIns="19050" rIns="28575" bIns="19050" anchor="t">
            <a:normAutofit/>
          </a:bodyPr>
          <a:lstStyle/>
          <a:p>
            <a:pPr algn="l">
              <a:lnSpc>
                <a:spcPct val="105000"/>
              </a:lnSpc>
              <a:buNone/>
              <a:defRPr sz="1875" b="0">
                <a:solidFill>
                  <a:srgbClr val="DCE7F7"/>
                </a:solidFill>
                <a:latin typeface="Nimbus Sans"/>
                <a:ea typeface="Nimbus Sans"/>
                <a:cs typeface="Nimbus Sans"/>
              </a:defRPr>
            </a:pPr>
            <a:r>
              <a:rPr sz="1875" b="0" dirty="0">
                <a:solidFill>
                  <a:srgbClr val="DCE7F7"/>
                </a:solidFill>
                <a:latin typeface="Nimbus Sans"/>
                <a:ea typeface="Nimbus Sans"/>
                <a:cs typeface="Nimbus Sans"/>
              </a:rPr>
              <a:t>Turning FAQ and schedule files into consistent, reviewable data</a:t>
            </a:r>
          </a:p>
        </p:txBody>
      </p:sp>
      <p:sp>
        <p:nvSpPr>
          <p:cNvPr id="5" name="Rectangle 4">
            <a:extLst>
              <a:ext uri="{FF2B5EF4-FFF2-40B4-BE49-F238E27FC236}">
                <a16:creationId xmlns:a16="http://schemas.microsoft.com/office/drawing/2014/main" id="{3238EFF5-41E8-4912-94D5-914EE5F9EB16}"/>
              </a:ext>
            </a:extLst>
          </p:cNvPr>
          <p:cNvSpPr>
            <a:spLocks noGrp="1"/>
          </p:cNvSpPr>
          <p:nvPr/>
        </p:nvSpPr>
        <p:spPr>
          <a:xfrm>
            <a:off x="723900" y="5619750"/>
            <a:ext cx="4095750" cy="323850"/>
          </a:xfrm>
          <a:prstGeom prst="rect">
            <a:avLst/>
          </a:prstGeom>
          <a:noFill/>
          <a:ln w="0">
            <a:noFill/>
          </a:ln>
        </p:spPr>
        <p:txBody>
          <a:bodyPr wrap="square" lIns="28575" tIns="19050" rIns="28575" bIns="19050" anchor="t">
            <a:normAutofit/>
          </a:bodyPr>
          <a:lstStyle/>
          <a:p>
            <a:pPr algn="l">
              <a:lnSpc>
                <a:spcPct val="100000"/>
              </a:lnSpc>
              <a:buNone/>
              <a:defRPr sz="1350" b="1">
                <a:solidFill>
                  <a:srgbClr val="A9C7FF"/>
                </a:solidFill>
                <a:latin typeface="Nimbus Sans"/>
                <a:ea typeface="Nimbus Sans"/>
                <a:cs typeface="Nimbus Sans"/>
              </a:defRPr>
            </a:pPr>
            <a:endParaRPr sz="1350" b="1" dirty="0">
              <a:solidFill>
                <a:srgbClr val="A9C7FF"/>
              </a:solidFill>
              <a:latin typeface="Nimbus Sans"/>
              <a:ea typeface="Nimbus Sans"/>
              <a:cs typeface="Nimbus Sans"/>
            </a:endParaRPr>
          </a:p>
        </p:txBody>
      </p:sp>
    </p:spTree>
    <p:extLst>
      <p:ext uri="{BB962C8B-B14F-4D97-AF65-F5344CB8AC3E}">
        <p14:creationId xmlns:p14="http://schemas.microsoft.com/office/powerpoint/2010/main" val="20949566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8862C1-76E3-4911-8EF7-32B3404C4865}"/>
              </a:ext>
            </a:extLst>
          </p:cNvPr>
          <p:cNvSpPr>
            <a:spLocks noGrp="1"/>
          </p:cNvSpPr>
          <p:nvPr/>
        </p:nvSpPr>
        <p:spPr>
          <a:xfrm>
            <a:off x="685800" y="438150"/>
            <a:ext cx="10191750" cy="552450"/>
          </a:xfrm>
          <a:prstGeom prst="rect">
            <a:avLst/>
          </a:prstGeom>
          <a:noFill/>
          <a:ln w="0">
            <a:noFill/>
          </a:ln>
        </p:spPr>
        <p:txBody>
          <a:bodyPr wrap="square" lIns="28575" tIns="19050" rIns="28575" bIns="19050" anchor="t">
            <a:normAutofit/>
          </a:bodyPr>
          <a:lstStyle/>
          <a:p>
            <a:pPr algn="l">
              <a:lnSpc>
                <a:spcPct val="100000"/>
              </a:lnSpc>
              <a:buNone/>
              <a:defRPr sz="2700" b="1">
                <a:solidFill>
                  <a:srgbClr val="000000"/>
                </a:solidFill>
                <a:latin typeface="Nimbus Sans"/>
                <a:ea typeface="Nimbus Sans"/>
                <a:cs typeface="Nimbus Sans"/>
              </a:defRPr>
            </a:pPr>
            <a:r>
              <a:rPr sz="2700" b="1">
                <a:solidFill>
                  <a:srgbClr val="000000"/>
                </a:solidFill>
                <a:latin typeface="Nimbus Sans"/>
                <a:ea typeface="Nimbus Sans"/>
                <a:cs typeface="Nimbus Sans"/>
              </a:rPr>
              <a:t>The information arrives in different forms</a:t>
            </a:r>
          </a:p>
        </p:txBody>
      </p:sp>
      <p:sp>
        <p:nvSpPr>
          <p:cNvPr id="2" name="Rectangle 1">
            <a:extLst>
              <a:ext uri="{FF2B5EF4-FFF2-40B4-BE49-F238E27FC236}">
                <a16:creationId xmlns:a16="http://schemas.microsoft.com/office/drawing/2014/main" id="{47223E80-C624-45A3-AA89-044C84F1A8BB}"/>
              </a:ext>
            </a:extLst>
          </p:cNvPr>
          <p:cNvSpPr>
            <a:spLocks noGrp="1"/>
          </p:cNvSpPr>
          <p:nvPr/>
        </p:nvSpPr>
        <p:spPr>
          <a:xfrm>
            <a:off x="704850" y="1009650"/>
            <a:ext cx="10287000" cy="400050"/>
          </a:xfrm>
          <a:prstGeom prst="rect">
            <a:avLst/>
          </a:prstGeom>
          <a:noFill/>
          <a:ln w="0">
            <a:noFill/>
          </a:ln>
        </p:spPr>
        <p:txBody>
          <a:bodyPr wrap="square" lIns="28575" tIns="19050" rIns="28575" bIns="19050" anchor="t">
            <a:normAutofit/>
          </a:bodyPr>
          <a:lstStyle/>
          <a:p>
            <a:pPr algn="l">
              <a:lnSpc>
                <a:spcPct val="100000"/>
              </a:lnSpc>
              <a:buNone/>
              <a:defRPr sz="1425" b="0">
                <a:solidFill>
                  <a:srgbClr val="3F3F3F"/>
                </a:solidFill>
                <a:latin typeface="Nimbus Sans"/>
                <a:ea typeface="Nimbus Sans"/>
                <a:cs typeface="Nimbus Sans"/>
              </a:defRPr>
            </a:pPr>
            <a:r>
              <a:rPr sz="1425" b="0">
                <a:solidFill>
                  <a:srgbClr val="3F3F3F"/>
                </a:solidFill>
                <a:latin typeface="Nimbus Sans"/>
                <a:ea typeface="Nimbus Sans"/>
                <a:cs typeface="Nimbus Sans"/>
              </a:rPr>
              <a:t>The same business content can look very different depending on the source file</a:t>
            </a:r>
          </a:p>
        </p:txBody>
      </p:sp>
      <p:sp>
        <p:nvSpPr>
          <p:cNvPr id="3" name="Rectangle 2">
            <a:extLst>
              <a:ext uri="{FF2B5EF4-FFF2-40B4-BE49-F238E27FC236}">
                <a16:creationId xmlns:a16="http://schemas.microsoft.com/office/drawing/2014/main" id="{6E82050B-897F-4F18-B4E2-ACADC13B101F}"/>
              </a:ext>
            </a:extLst>
          </p:cNvPr>
          <p:cNvSpPr>
            <a:spLocks noGrp="1"/>
          </p:cNvSpPr>
          <p:nvPr/>
        </p:nvSpPr>
        <p:spPr>
          <a:xfrm>
            <a:off x="762000" y="1905000"/>
            <a:ext cx="2857500" cy="457200"/>
          </a:xfrm>
          <a:prstGeom prst="rect">
            <a:avLst/>
          </a:prstGeom>
          <a:noFill/>
          <a:ln w="0">
            <a:noFill/>
          </a:ln>
        </p:spPr>
        <p:txBody>
          <a:bodyPr wrap="square" lIns="28575" tIns="19050" rIns="28575" bIns="19050" anchor="t">
            <a:normAutofit/>
          </a:bodyPr>
          <a:lstStyle/>
          <a:p>
            <a:pPr algn="l">
              <a:lnSpc>
                <a:spcPct val="100000"/>
              </a:lnSpc>
              <a:buNone/>
              <a:defRPr sz="2025" b="1">
                <a:solidFill>
                  <a:srgbClr val="000000"/>
                </a:solidFill>
                <a:latin typeface="Nimbus Sans"/>
                <a:ea typeface="Nimbus Sans"/>
                <a:cs typeface="Nimbus Sans"/>
              </a:defRPr>
            </a:pPr>
            <a:r>
              <a:rPr sz="2025" b="1">
                <a:solidFill>
                  <a:srgbClr val="000000"/>
                </a:solidFill>
                <a:latin typeface="Nimbus Sans"/>
                <a:ea typeface="Nimbus Sans"/>
                <a:cs typeface="Nimbus Sans"/>
              </a:rPr>
              <a:t>Word documents</a:t>
            </a:r>
          </a:p>
        </p:txBody>
      </p:sp>
      <p:sp>
        <p:nvSpPr>
          <p:cNvPr id="4" name="Rectangle 3">
            <a:extLst>
              <a:ext uri="{FF2B5EF4-FFF2-40B4-BE49-F238E27FC236}">
                <a16:creationId xmlns:a16="http://schemas.microsoft.com/office/drawing/2014/main" id="{D937BC1F-B62E-4A67-A80F-F34D26A84AFA}"/>
              </a:ext>
            </a:extLst>
          </p:cNvPr>
          <p:cNvSpPr>
            <a:spLocks noGrp="1"/>
          </p:cNvSpPr>
          <p:nvPr/>
        </p:nvSpPr>
        <p:spPr>
          <a:xfrm>
            <a:off x="762000" y="2571750"/>
            <a:ext cx="2857500" cy="514350"/>
          </a:xfrm>
          <a:prstGeom prst="rect">
            <a:avLst/>
          </a:prstGeom>
          <a:noFill/>
          <a:ln w="0">
            <a:noFill/>
          </a:ln>
        </p:spPr>
        <p:txBody>
          <a:bodyPr wrap="square" lIns="28575" tIns="19050" rIns="28575" bIns="19050" anchor="t">
            <a:normAutofit/>
          </a:bodyPr>
          <a:lstStyle/>
          <a:p>
            <a:pPr algn="l">
              <a:lnSpc>
                <a:spcPct val="100000"/>
              </a:lnSpc>
              <a:buNone/>
              <a:defRPr sz="1500" b="1">
                <a:solidFill>
                  <a:srgbClr val="000000"/>
                </a:solidFill>
                <a:latin typeface="Nimbus Sans"/>
                <a:ea typeface="Nimbus Sans"/>
                <a:cs typeface="Nimbus Sans"/>
              </a:defRPr>
            </a:pPr>
            <a:r>
              <a:rPr sz="1500" b="1">
                <a:solidFill>
                  <a:srgbClr val="000000"/>
                </a:solidFill>
                <a:latin typeface="Nimbus Sans"/>
                <a:ea typeface="Nimbus Sans"/>
                <a:cs typeface="Nimbus Sans"/>
              </a:rPr>
              <a:t>Question and answer</a:t>
            </a:r>
          </a:p>
        </p:txBody>
      </p:sp>
      <p:sp>
        <p:nvSpPr>
          <p:cNvPr id="5" name="Rectangle 4">
            <a:extLst>
              <a:ext uri="{FF2B5EF4-FFF2-40B4-BE49-F238E27FC236}">
                <a16:creationId xmlns:a16="http://schemas.microsoft.com/office/drawing/2014/main" id="{CBC352A3-182D-4026-BFA9-B23DD9E9D658}"/>
              </a:ext>
            </a:extLst>
          </p:cNvPr>
          <p:cNvSpPr>
            <a:spLocks noGrp="1"/>
          </p:cNvSpPr>
          <p:nvPr/>
        </p:nvSpPr>
        <p:spPr>
          <a:xfrm>
            <a:off x="762000" y="3276600"/>
            <a:ext cx="2857500" cy="1428750"/>
          </a:xfrm>
          <a:prstGeom prst="rect">
            <a:avLst/>
          </a:prstGeom>
          <a:noFill/>
          <a:ln w="0">
            <a:noFill/>
          </a:ln>
        </p:spPr>
        <p:txBody>
          <a:bodyPr wrap="square" lIns="28575" tIns="19050" rIns="28575" bIns="19050" anchor="t">
            <a:normAutofit/>
          </a:bodyPr>
          <a:lstStyle/>
          <a:p>
            <a:pPr algn="l">
              <a:lnSpc>
                <a:spcPct val="112000"/>
              </a:lnSpc>
              <a:buNone/>
              <a:defRPr sz="1425" b="0">
                <a:solidFill>
                  <a:srgbClr val="3F3F3F"/>
                </a:solidFill>
                <a:latin typeface="Nimbus Sans"/>
                <a:ea typeface="Nimbus Sans"/>
                <a:cs typeface="Nimbus Sans"/>
              </a:defRPr>
            </a:pPr>
            <a:r>
              <a:rPr sz="1425" b="0">
                <a:solidFill>
                  <a:srgbClr val="3F3F3F"/>
                </a:solidFill>
                <a:latin typeface="Nimbus Sans"/>
                <a:ea typeface="Nimbus Sans"/>
                <a:cs typeface="Nimbus Sans"/>
              </a:rPr>
              <a:t>FAQs may appear as tables or as bold questions followed by answers.</a:t>
            </a:r>
          </a:p>
        </p:txBody>
      </p:sp>
      <p:sp>
        <p:nvSpPr>
          <p:cNvPr id="6" name="Rectangle 5">
            <a:extLst>
              <a:ext uri="{FF2B5EF4-FFF2-40B4-BE49-F238E27FC236}">
                <a16:creationId xmlns:a16="http://schemas.microsoft.com/office/drawing/2014/main" id="{3B36E4B1-5CAE-4BC4-B971-651D6D0C4924}"/>
              </a:ext>
            </a:extLst>
          </p:cNvPr>
          <p:cNvSpPr>
            <a:spLocks noGrp="1"/>
          </p:cNvSpPr>
          <p:nvPr/>
        </p:nvSpPr>
        <p:spPr>
          <a:xfrm>
            <a:off x="4286250" y="1905000"/>
            <a:ext cx="2857500" cy="457200"/>
          </a:xfrm>
          <a:prstGeom prst="rect">
            <a:avLst/>
          </a:prstGeom>
          <a:noFill/>
          <a:ln w="0">
            <a:noFill/>
          </a:ln>
        </p:spPr>
        <p:txBody>
          <a:bodyPr wrap="square" lIns="28575" tIns="19050" rIns="28575" bIns="19050" anchor="t">
            <a:normAutofit/>
          </a:bodyPr>
          <a:lstStyle/>
          <a:p>
            <a:pPr algn="l">
              <a:lnSpc>
                <a:spcPct val="100000"/>
              </a:lnSpc>
              <a:buNone/>
              <a:defRPr sz="2025" b="1">
                <a:solidFill>
                  <a:srgbClr val="000000"/>
                </a:solidFill>
                <a:latin typeface="Nimbus Sans"/>
                <a:ea typeface="Nimbus Sans"/>
                <a:cs typeface="Nimbus Sans"/>
              </a:defRPr>
            </a:pPr>
            <a:r>
              <a:rPr sz="2025" b="1" dirty="0">
                <a:solidFill>
                  <a:srgbClr val="000000"/>
                </a:solidFill>
                <a:latin typeface="Nimbus Sans"/>
                <a:ea typeface="Nimbus Sans"/>
                <a:cs typeface="Nimbus Sans"/>
              </a:rPr>
              <a:t>PDFs</a:t>
            </a:r>
          </a:p>
        </p:txBody>
      </p:sp>
      <p:sp>
        <p:nvSpPr>
          <p:cNvPr id="7" name="Rectangle 6">
            <a:extLst>
              <a:ext uri="{FF2B5EF4-FFF2-40B4-BE49-F238E27FC236}">
                <a16:creationId xmlns:a16="http://schemas.microsoft.com/office/drawing/2014/main" id="{08EDC037-30F3-4D37-B992-D875D279D5A7}"/>
              </a:ext>
            </a:extLst>
          </p:cNvPr>
          <p:cNvSpPr>
            <a:spLocks noGrp="1"/>
          </p:cNvSpPr>
          <p:nvPr/>
        </p:nvSpPr>
        <p:spPr>
          <a:xfrm>
            <a:off x="4286250" y="2571750"/>
            <a:ext cx="2857500" cy="514350"/>
          </a:xfrm>
          <a:prstGeom prst="rect">
            <a:avLst/>
          </a:prstGeom>
          <a:noFill/>
          <a:ln w="0">
            <a:noFill/>
          </a:ln>
        </p:spPr>
        <p:txBody>
          <a:bodyPr wrap="square" lIns="28575" tIns="19050" rIns="28575" bIns="19050" anchor="t">
            <a:normAutofit/>
          </a:bodyPr>
          <a:lstStyle/>
          <a:p>
            <a:pPr algn="l">
              <a:lnSpc>
                <a:spcPct val="100000"/>
              </a:lnSpc>
              <a:buNone/>
              <a:defRPr sz="1500" b="1">
                <a:solidFill>
                  <a:srgbClr val="000000"/>
                </a:solidFill>
                <a:latin typeface="Nimbus Sans"/>
                <a:ea typeface="Nimbus Sans"/>
                <a:cs typeface="Nimbus Sans"/>
              </a:defRPr>
            </a:pPr>
            <a:r>
              <a:rPr sz="1500" b="1">
                <a:solidFill>
                  <a:srgbClr val="000000"/>
                </a:solidFill>
                <a:latin typeface="Nimbus Sans"/>
                <a:ea typeface="Nimbus Sans"/>
                <a:cs typeface="Nimbus Sans"/>
              </a:rPr>
              <a:t>Question above answer</a:t>
            </a:r>
          </a:p>
        </p:txBody>
      </p:sp>
      <p:sp>
        <p:nvSpPr>
          <p:cNvPr id="8" name="Rectangle 7">
            <a:extLst>
              <a:ext uri="{FF2B5EF4-FFF2-40B4-BE49-F238E27FC236}">
                <a16:creationId xmlns:a16="http://schemas.microsoft.com/office/drawing/2014/main" id="{B60623CB-8033-4BCC-94F5-01F04ADB3F01}"/>
              </a:ext>
            </a:extLst>
          </p:cNvPr>
          <p:cNvSpPr>
            <a:spLocks noGrp="1"/>
          </p:cNvSpPr>
          <p:nvPr/>
        </p:nvSpPr>
        <p:spPr>
          <a:xfrm>
            <a:off x="4286250" y="3276600"/>
            <a:ext cx="2857500" cy="1428750"/>
          </a:xfrm>
          <a:prstGeom prst="rect">
            <a:avLst/>
          </a:prstGeom>
          <a:noFill/>
          <a:ln w="0">
            <a:noFill/>
          </a:ln>
        </p:spPr>
        <p:txBody>
          <a:bodyPr wrap="square" lIns="28575" tIns="19050" rIns="28575" bIns="19050" anchor="t">
            <a:normAutofit/>
          </a:bodyPr>
          <a:lstStyle/>
          <a:p>
            <a:pPr algn="l">
              <a:lnSpc>
                <a:spcPct val="112000"/>
              </a:lnSpc>
              <a:buNone/>
              <a:defRPr sz="1425" b="0">
                <a:solidFill>
                  <a:srgbClr val="3F3F3F"/>
                </a:solidFill>
                <a:latin typeface="Nimbus Sans"/>
                <a:ea typeface="Nimbus Sans"/>
                <a:cs typeface="Nimbus Sans"/>
              </a:defRPr>
            </a:pPr>
            <a:r>
              <a:rPr sz="1425" b="0">
                <a:solidFill>
                  <a:srgbClr val="3F3F3F"/>
                </a:solidFill>
                <a:latin typeface="Nimbus Sans"/>
                <a:ea typeface="Nimbus Sans"/>
                <a:cs typeface="Nimbus Sans"/>
              </a:rPr>
              <a:t>Text may follow page position and columns rather than document structure.</a:t>
            </a:r>
          </a:p>
        </p:txBody>
      </p:sp>
      <p:sp>
        <p:nvSpPr>
          <p:cNvPr id="9" name="Rectangle 8">
            <a:extLst>
              <a:ext uri="{FF2B5EF4-FFF2-40B4-BE49-F238E27FC236}">
                <a16:creationId xmlns:a16="http://schemas.microsoft.com/office/drawing/2014/main" id="{3330DCB2-9F8A-4E7C-9159-11CF83D98E64}"/>
              </a:ext>
            </a:extLst>
          </p:cNvPr>
          <p:cNvSpPr>
            <a:spLocks noGrp="1"/>
          </p:cNvSpPr>
          <p:nvPr/>
        </p:nvSpPr>
        <p:spPr>
          <a:xfrm>
            <a:off x="7810500" y="1905000"/>
            <a:ext cx="2857500" cy="457200"/>
          </a:xfrm>
          <a:prstGeom prst="rect">
            <a:avLst/>
          </a:prstGeom>
          <a:noFill/>
          <a:ln w="0">
            <a:noFill/>
          </a:ln>
        </p:spPr>
        <p:txBody>
          <a:bodyPr wrap="square" lIns="28575" tIns="19050" rIns="28575" bIns="19050" anchor="t">
            <a:normAutofit/>
          </a:bodyPr>
          <a:lstStyle/>
          <a:p>
            <a:pPr algn="l">
              <a:lnSpc>
                <a:spcPct val="100000"/>
              </a:lnSpc>
              <a:buNone/>
              <a:defRPr sz="2025" b="1">
                <a:solidFill>
                  <a:srgbClr val="000000"/>
                </a:solidFill>
                <a:latin typeface="Nimbus Sans"/>
                <a:ea typeface="Nimbus Sans"/>
                <a:cs typeface="Nimbus Sans"/>
              </a:defRPr>
            </a:pPr>
            <a:r>
              <a:rPr sz="2025" b="1">
                <a:solidFill>
                  <a:srgbClr val="000000"/>
                </a:solidFill>
                <a:latin typeface="Nimbus Sans"/>
                <a:ea typeface="Nimbus Sans"/>
                <a:cs typeface="Nimbus Sans"/>
              </a:rPr>
              <a:t>Schedule CSVs</a:t>
            </a:r>
          </a:p>
        </p:txBody>
      </p:sp>
      <p:sp>
        <p:nvSpPr>
          <p:cNvPr id="10" name="Rectangle 9">
            <a:extLst>
              <a:ext uri="{FF2B5EF4-FFF2-40B4-BE49-F238E27FC236}">
                <a16:creationId xmlns:a16="http://schemas.microsoft.com/office/drawing/2014/main" id="{D12723D7-8A13-47AF-9F68-B12786F3E091}"/>
              </a:ext>
            </a:extLst>
          </p:cNvPr>
          <p:cNvSpPr>
            <a:spLocks noGrp="1"/>
          </p:cNvSpPr>
          <p:nvPr/>
        </p:nvSpPr>
        <p:spPr>
          <a:xfrm>
            <a:off x="7810500" y="2571750"/>
            <a:ext cx="2857500" cy="514350"/>
          </a:xfrm>
          <a:prstGeom prst="rect">
            <a:avLst/>
          </a:prstGeom>
          <a:noFill/>
          <a:ln w="0">
            <a:noFill/>
          </a:ln>
        </p:spPr>
        <p:txBody>
          <a:bodyPr wrap="square" lIns="28575" tIns="19050" rIns="28575" bIns="19050" anchor="t">
            <a:normAutofit/>
          </a:bodyPr>
          <a:lstStyle/>
          <a:p>
            <a:pPr algn="l">
              <a:lnSpc>
                <a:spcPct val="100000"/>
              </a:lnSpc>
              <a:buNone/>
              <a:defRPr sz="1500" b="1">
                <a:solidFill>
                  <a:srgbClr val="000000"/>
                </a:solidFill>
                <a:latin typeface="Nimbus Sans"/>
                <a:ea typeface="Nimbus Sans"/>
                <a:cs typeface="Nimbus Sans"/>
              </a:defRPr>
            </a:pPr>
            <a:r>
              <a:rPr sz="1500" b="1">
                <a:solidFill>
                  <a:srgbClr val="000000"/>
                </a:solidFill>
                <a:latin typeface="Nimbus Sans"/>
                <a:ea typeface="Nimbus Sans"/>
                <a:cs typeface="Nimbus Sans"/>
              </a:rPr>
              <a:t>Tech, trial, tapeout</a:t>
            </a:r>
          </a:p>
        </p:txBody>
      </p:sp>
      <p:sp>
        <p:nvSpPr>
          <p:cNvPr id="11" name="Rectangle 10">
            <a:extLst>
              <a:ext uri="{FF2B5EF4-FFF2-40B4-BE49-F238E27FC236}">
                <a16:creationId xmlns:a16="http://schemas.microsoft.com/office/drawing/2014/main" id="{724D186D-EE91-49B5-AB7A-A6D998327876}"/>
              </a:ext>
            </a:extLst>
          </p:cNvPr>
          <p:cNvSpPr>
            <a:spLocks noGrp="1"/>
          </p:cNvSpPr>
          <p:nvPr/>
        </p:nvSpPr>
        <p:spPr>
          <a:xfrm>
            <a:off x="7810500" y="3276600"/>
            <a:ext cx="2857500" cy="1428750"/>
          </a:xfrm>
          <a:prstGeom prst="rect">
            <a:avLst/>
          </a:prstGeom>
          <a:noFill/>
          <a:ln w="0">
            <a:noFill/>
          </a:ln>
        </p:spPr>
        <p:txBody>
          <a:bodyPr wrap="square" lIns="28575" tIns="19050" rIns="28575" bIns="19050" anchor="t">
            <a:normAutofit/>
          </a:bodyPr>
          <a:lstStyle/>
          <a:p>
            <a:pPr algn="l">
              <a:lnSpc>
                <a:spcPct val="112000"/>
              </a:lnSpc>
              <a:buNone/>
              <a:defRPr sz="1425" b="0">
                <a:solidFill>
                  <a:srgbClr val="3F3F3F"/>
                </a:solidFill>
                <a:latin typeface="Nimbus Sans"/>
                <a:ea typeface="Nimbus Sans"/>
                <a:cs typeface="Nimbus Sans"/>
              </a:defRPr>
            </a:pPr>
            <a:r>
              <a:rPr sz="1425" b="0">
                <a:solidFill>
                  <a:srgbClr val="3F3F3F"/>
                </a:solidFill>
                <a:latin typeface="Nimbus Sans"/>
                <a:ea typeface="Nimbus Sans"/>
                <a:cs typeface="Nimbus Sans"/>
              </a:rPr>
              <a:t>Schedules require consistent headers, valid dates, and clear shared or full classification.</a:t>
            </a:r>
          </a:p>
        </p:txBody>
      </p:sp>
      <p:sp>
        <p:nvSpPr>
          <p:cNvPr id="12" name="Rectangle 11">
            <a:extLst>
              <a:ext uri="{FF2B5EF4-FFF2-40B4-BE49-F238E27FC236}">
                <a16:creationId xmlns:a16="http://schemas.microsoft.com/office/drawing/2014/main" id="{CDA3EED0-125B-4D63-A1DA-1C727B74A1CB}"/>
              </a:ext>
            </a:extLst>
          </p:cNvPr>
          <p:cNvSpPr>
            <a:spLocks noGrp="1"/>
          </p:cNvSpPr>
          <p:nvPr/>
        </p:nvSpPr>
        <p:spPr>
          <a:xfrm>
            <a:off x="1524000" y="5467350"/>
            <a:ext cx="9144000" cy="514350"/>
          </a:xfrm>
          <a:prstGeom prst="rect">
            <a:avLst/>
          </a:prstGeom>
          <a:noFill/>
          <a:ln w="0">
            <a:noFill/>
          </a:ln>
        </p:spPr>
        <p:txBody>
          <a:bodyPr wrap="square" lIns="28575" tIns="19050" rIns="28575" bIns="19050" anchor="t">
            <a:normAutofit/>
          </a:bodyPr>
          <a:lstStyle/>
          <a:p>
            <a:pPr algn="ctr">
              <a:lnSpc>
                <a:spcPct val="100000"/>
              </a:lnSpc>
              <a:buNone/>
              <a:defRPr sz="1725" b="1">
                <a:solidFill>
                  <a:srgbClr val="000000"/>
                </a:solidFill>
                <a:latin typeface="Nimbus Sans"/>
                <a:ea typeface="Nimbus Sans"/>
                <a:cs typeface="Nimbus Sans"/>
              </a:defRPr>
            </a:pPr>
            <a:r>
              <a:rPr sz="1725" b="1">
                <a:solidFill>
                  <a:srgbClr val="000000"/>
                </a:solidFill>
                <a:latin typeface="Nimbus Sans"/>
                <a:ea typeface="Nimbus Sans"/>
                <a:cs typeface="Nimbus Sans"/>
              </a:rPr>
              <a:t>Without normalization, downstream systems must handle every layout separately.</a:t>
            </a:r>
          </a:p>
        </p:txBody>
      </p:sp>
      <p:sp>
        <p:nvSpPr>
          <p:cNvPr id="13" name="Rectangle 12">
            <a:extLst>
              <a:ext uri="{FF2B5EF4-FFF2-40B4-BE49-F238E27FC236}">
                <a16:creationId xmlns:a16="http://schemas.microsoft.com/office/drawing/2014/main" id="{AEC1CEB1-0818-4A94-99BC-6F9C1BB7E0C4}"/>
              </a:ext>
            </a:extLst>
          </p:cNvPr>
          <p:cNvSpPr>
            <a:spLocks noGrp="1"/>
          </p:cNvSpPr>
          <p:nvPr/>
        </p:nvSpPr>
        <p:spPr>
          <a:xfrm>
            <a:off x="11144250" y="6381750"/>
            <a:ext cx="419100" cy="228600"/>
          </a:xfrm>
          <a:prstGeom prst="rect">
            <a:avLst/>
          </a:prstGeom>
          <a:noFill/>
          <a:ln w="0">
            <a:noFill/>
          </a:ln>
        </p:spPr>
        <p:txBody>
          <a:bodyPr wrap="square" lIns="28575" tIns="19050" rIns="28575" bIns="19050" anchor="t">
            <a:normAutofit/>
          </a:bodyPr>
          <a:lstStyle/>
          <a:p>
            <a:pPr algn="r">
              <a:lnSpc>
                <a:spcPct val="100000"/>
              </a:lnSpc>
              <a:buNone/>
              <a:defRPr sz="900" b="0">
                <a:solidFill>
                  <a:srgbClr val="7A879A"/>
                </a:solidFill>
                <a:latin typeface="Nimbus Sans"/>
                <a:ea typeface="Nimbus Sans"/>
                <a:cs typeface="Nimbus Sans"/>
              </a:defRPr>
            </a:pPr>
            <a:r>
              <a:rPr sz="900" b="0">
                <a:solidFill>
                  <a:srgbClr val="7A879A"/>
                </a:solidFill>
                <a:latin typeface="Nimbus Sans"/>
                <a:ea typeface="Nimbus Sans"/>
                <a:cs typeface="Nimbus Sans"/>
              </a:rPr>
              <a:t>02</a:t>
            </a:r>
          </a:p>
        </p:txBody>
      </p:sp>
    </p:spTree>
    <p:extLst>
      <p:ext uri="{BB962C8B-B14F-4D97-AF65-F5344CB8AC3E}">
        <p14:creationId xmlns:p14="http://schemas.microsoft.com/office/powerpoint/2010/main" val="7079074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18" name="Connector: Elbow 17"/>
          <p:cNvCxnSpPr>
            <a:stCxn id="7" idx="3"/>
            <a:endCxn id="8" idx="1"/>
          </p:cNvCxnSpPr>
          <p:nvPr/>
        </p:nvCxnSpPr>
        <p:spPr>
          <a:xfrm flipV="1">
            <a:off x="7791450" y="3276600"/>
            <a:ext cx="971550" cy="952500"/>
          </a:xfrm>
          <a:prstGeom prst="bentConnector3">
            <a:avLst>
              <a:gd name="adj1" fmla="val 50000"/>
            </a:avLst>
          </a:prstGeom>
          <a:ln w="19050">
            <a:solidFill>
              <a:srgbClr val="666666"/>
            </a:solidFill>
            <a:tailEnd type="arrow" w="sm" len="sm"/>
          </a:ln>
        </p:spPr>
      </p:cxnSp>
      <p:cxnSp>
        <p:nvCxnSpPr>
          <p:cNvPr id="19" name="Connector: Elbow 18"/>
          <p:cNvCxnSpPr>
            <a:stCxn id="4" idx="3"/>
            <a:endCxn id="7" idx="1"/>
          </p:cNvCxnSpPr>
          <p:nvPr/>
        </p:nvCxnSpPr>
        <p:spPr>
          <a:xfrm>
            <a:off x="4895850" y="3276600"/>
            <a:ext cx="800100" cy="952500"/>
          </a:xfrm>
          <a:prstGeom prst="bentConnector3">
            <a:avLst>
              <a:gd name="adj1" fmla="val 50000"/>
            </a:avLst>
          </a:prstGeom>
          <a:ln w="19050">
            <a:solidFill>
              <a:srgbClr val="666666"/>
            </a:solidFill>
            <a:tailEnd type="arrow" w="sm" len="sm"/>
          </a:ln>
        </p:spPr>
      </p:cxnSp>
      <p:cxnSp>
        <p:nvCxnSpPr>
          <p:cNvPr id="20" name="Connector: Elbow 19"/>
          <p:cNvCxnSpPr>
            <a:stCxn id="6" idx="3"/>
            <a:endCxn id="8" idx="1"/>
          </p:cNvCxnSpPr>
          <p:nvPr/>
        </p:nvCxnSpPr>
        <p:spPr>
          <a:xfrm>
            <a:off x="7791450" y="3181350"/>
            <a:ext cx="971550" cy="95250"/>
          </a:xfrm>
          <a:prstGeom prst="bentConnector3">
            <a:avLst>
              <a:gd name="adj1" fmla="val 50000"/>
            </a:avLst>
          </a:prstGeom>
          <a:ln w="19050">
            <a:solidFill>
              <a:srgbClr val="666666"/>
            </a:solidFill>
            <a:tailEnd type="arrow" w="sm" len="sm"/>
          </a:ln>
        </p:spPr>
      </p:cxnSp>
      <p:cxnSp>
        <p:nvCxnSpPr>
          <p:cNvPr id="21" name="Connector: Elbow 20"/>
          <p:cNvCxnSpPr>
            <a:stCxn id="4" idx="3"/>
            <a:endCxn id="6" idx="1"/>
          </p:cNvCxnSpPr>
          <p:nvPr/>
        </p:nvCxnSpPr>
        <p:spPr>
          <a:xfrm flipV="1">
            <a:off x="4895850" y="3181350"/>
            <a:ext cx="800100" cy="95250"/>
          </a:xfrm>
          <a:prstGeom prst="bentConnector3">
            <a:avLst>
              <a:gd name="adj1" fmla="val 50000"/>
            </a:avLst>
          </a:prstGeom>
          <a:ln w="19050">
            <a:solidFill>
              <a:srgbClr val="666666"/>
            </a:solidFill>
            <a:tailEnd type="arrow" w="sm" len="sm"/>
          </a:ln>
        </p:spPr>
      </p:cxnSp>
      <p:cxnSp>
        <p:nvCxnSpPr>
          <p:cNvPr id="22" name="Connector: Elbow 21"/>
          <p:cNvCxnSpPr>
            <a:stCxn id="5" idx="3"/>
            <a:endCxn id="8" idx="1"/>
          </p:cNvCxnSpPr>
          <p:nvPr/>
        </p:nvCxnSpPr>
        <p:spPr>
          <a:xfrm>
            <a:off x="7791450" y="2133600"/>
            <a:ext cx="971550" cy="1143000"/>
          </a:xfrm>
          <a:prstGeom prst="bentConnector3">
            <a:avLst>
              <a:gd name="adj1" fmla="val 50000"/>
            </a:avLst>
          </a:prstGeom>
          <a:ln w="19050">
            <a:solidFill>
              <a:srgbClr val="666666"/>
            </a:solidFill>
            <a:tailEnd type="arrow" w="sm" len="sm"/>
          </a:ln>
        </p:spPr>
      </p:cxnSp>
      <p:cxnSp>
        <p:nvCxnSpPr>
          <p:cNvPr id="23" name="Connector: Elbow 22"/>
          <p:cNvCxnSpPr>
            <a:stCxn id="4" idx="3"/>
            <a:endCxn id="5" idx="1"/>
          </p:cNvCxnSpPr>
          <p:nvPr/>
        </p:nvCxnSpPr>
        <p:spPr>
          <a:xfrm flipV="1">
            <a:off x="4895850" y="2133600"/>
            <a:ext cx="800100" cy="1143000"/>
          </a:xfrm>
          <a:prstGeom prst="bentConnector3">
            <a:avLst>
              <a:gd name="adj1" fmla="val 50000"/>
            </a:avLst>
          </a:prstGeom>
          <a:ln w="19050">
            <a:solidFill>
              <a:srgbClr val="666666"/>
            </a:solidFill>
            <a:tailEnd type="arrow" w="sm" len="sm"/>
          </a:ln>
        </p:spPr>
      </p:cxnSp>
      <p:cxnSp>
        <p:nvCxnSpPr>
          <p:cNvPr id="24" name="Straight Arrow Connector 23"/>
          <p:cNvCxnSpPr>
            <a:stCxn id="3" idx="3"/>
            <a:endCxn id="4" idx="1"/>
          </p:cNvCxnSpPr>
          <p:nvPr/>
        </p:nvCxnSpPr>
        <p:spPr>
          <a:xfrm>
            <a:off x="2343150" y="3276600"/>
            <a:ext cx="590550" cy="0"/>
          </a:xfrm>
          <a:prstGeom prst="straightConnector1">
            <a:avLst/>
          </a:prstGeom>
          <a:ln w="19050">
            <a:solidFill>
              <a:srgbClr val="3F3F3F"/>
            </a:solidFill>
            <a:tailEnd type="arrow" w="med" len="med"/>
          </a:ln>
        </p:spPr>
      </p:cxnSp>
      <p:sp>
        <p:nvSpPr>
          <p:cNvPr id="25" name="Rectangle 24">
            <a:extLst>
              <a:ext uri="{FF2B5EF4-FFF2-40B4-BE49-F238E27FC236}">
                <a16:creationId xmlns:a16="http://schemas.microsoft.com/office/drawing/2014/main" id="{DFA66B57-32F5-4A51-820A-F61DC1887B9A}"/>
              </a:ext>
            </a:extLst>
          </p:cNvPr>
          <p:cNvSpPr>
            <a:spLocks noGrp="1"/>
          </p:cNvSpPr>
          <p:nvPr/>
        </p:nvSpPr>
        <p:spPr>
          <a:xfrm>
            <a:off x="685800" y="438150"/>
            <a:ext cx="10191750" cy="552450"/>
          </a:xfrm>
          <a:prstGeom prst="rect">
            <a:avLst/>
          </a:prstGeom>
          <a:noFill/>
          <a:ln w="0">
            <a:noFill/>
          </a:ln>
        </p:spPr>
        <p:txBody>
          <a:bodyPr wrap="square" lIns="28575" tIns="19050" rIns="28575" bIns="19050" anchor="t">
            <a:normAutofit/>
          </a:bodyPr>
          <a:lstStyle/>
          <a:p>
            <a:pPr algn="l">
              <a:lnSpc>
                <a:spcPct val="100000"/>
              </a:lnSpc>
              <a:buNone/>
              <a:defRPr sz="2700" b="1">
                <a:solidFill>
                  <a:srgbClr val="000000"/>
                </a:solidFill>
                <a:latin typeface="Nimbus Sans"/>
                <a:ea typeface="Nimbus Sans"/>
                <a:cs typeface="Nimbus Sans"/>
              </a:defRPr>
            </a:pPr>
            <a:r>
              <a:rPr sz="2700" b="1">
                <a:solidFill>
                  <a:srgbClr val="000000"/>
                </a:solidFill>
                <a:latin typeface="Nimbus Sans"/>
                <a:ea typeface="Nimbus Sans"/>
                <a:cs typeface="Nimbus Sans"/>
              </a:rPr>
              <a:t>One entry point, several parsing methods</a:t>
            </a:r>
          </a:p>
        </p:txBody>
      </p:sp>
      <p:sp>
        <p:nvSpPr>
          <p:cNvPr id="2" name="Rectangle 1">
            <a:extLst>
              <a:ext uri="{FF2B5EF4-FFF2-40B4-BE49-F238E27FC236}">
                <a16:creationId xmlns:a16="http://schemas.microsoft.com/office/drawing/2014/main" id="{A6866D38-D531-4321-98E2-CDAE74CFF1FE}"/>
              </a:ext>
            </a:extLst>
          </p:cNvPr>
          <p:cNvSpPr>
            <a:spLocks noGrp="1"/>
          </p:cNvSpPr>
          <p:nvPr/>
        </p:nvSpPr>
        <p:spPr>
          <a:xfrm>
            <a:off x="704850" y="1009650"/>
            <a:ext cx="10287000" cy="400050"/>
          </a:xfrm>
          <a:prstGeom prst="rect">
            <a:avLst/>
          </a:prstGeom>
          <a:noFill/>
          <a:ln w="0">
            <a:noFill/>
          </a:ln>
        </p:spPr>
        <p:txBody>
          <a:bodyPr wrap="square" lIns="28575" tIns="19050" rIns="28575" bIns="19050" anchor="t">
            <a:normAutofit/>
          </a:bodyPr>
          <a:lstStyle/>
          <a:p>
            <a:pPr algn="l">
              <a:lnSpc>
                <a:spcPct val="100000"/>
              </a:lnSpc>
              <a:buNone/>
              <a:defRPr sz="1425" b="0">
                <a:solidFill>
                  <a:srgbClr val="3F3F3F"/>
                </a:solidFill>
                <a:latin typeface="Nimbus Sans"/>
                <a:ea typeface="Nimbus Sans"/>
                <a:cs typeface="Nimbus Sans"/>
              </a:defRPr>
            </a:pPr>
            <a:r>
              <a:rPr sz="1425" b="0">
                <a:solidFill>
                  <a:srgbClr val="3F3F3F"/>
                </a:solidFill>
                <a:latin typeface="Nimbus Sans"/>
                <a:ea typeface="Nimbus Sans"/>
                <a:cs typeface="Nimbus Sans"/>
              </a:rPr>
              <a:t>The application chooses the strongest available structure for each file</a:t>
            </a:r>
          </a:p>
        </p:txBody>
      </p:sp>
      <p:sp>
        <p:nvSpPr>
          <p:cNvPr id="3" name="Rectangle: Rounded Corners 2">
            <a:extLst>
              <a:ext uri="{FF2B5EF4-FFF2-40B4-BE49-F238E27FC236}">
                <a16:creationId xmlns:a16="http://schemas.microsoft.com/office/drawing/2014/main" id="{0D39FC77-403E-4F9B-8FDB-7BFDCAB37028}"/>
              </a:ext>
            </a:extLst>
          </p:cNvPr>
          <p:cNvSpPr>
            <a:spLocks noGrp="1"/>
          </p:cNvSpPr>
          <p:nvPr/>
        </p:nvSpPr>
        <p:spPr>
          <a:xfrm>
            <a:off x="609600" y="2781300"/>
            <a:ext cx="1733550" cy="990600"/>
          </a:xfrm>
          <a:prstGeom prst="roundRect">
            <a:avLst>
              <a:gd name="adj" fmla="val 11538"/>
            </a:avLst>
          </a:prstGeom>
          <a:solidFill>
            <a:srgbClr val="000000"/>
          </a:solidFill>
          <a:ln w="0">
            <a:noFill/>
          </a:ln>
        </p:spPr>
        <p:txBody>
          <a:bodyPr anchor="ctr">
            <a:normAutofit/>
          </a:bodyPr>
          <a:lstStyle/>
          <a:p>
            <a:pPr algn="ctr">
              <a:defRPr sz="1725" b="1">
                <a:solidFill>
                  <a:srgbClr val="FFFFFF"/>
                </a:solidFill>
                <a:latin typeface="Nimbus Sans"/>
                <a:ea typeface="Nimbus Sans"/>
                <a:cs typeface="Nimbus Sans"/>
              </a:defRPr>
            </a:pPr>
            <a:r>
              <a:rPr sz="1725" b="1">
                <a:solidFill>
                  <a:srgbClr val="FFFFFF"/>
                </a:solidFill>
                <a:latin typeface="Nimbus Sans"/>
                <a:ea typeface="Nimbus Sans"/>
                <a:cs typeface="Nimbus Sans"/>
              </a:rPr>
              <a:t>Upload file</a:t>
            </a:r>
          </a:p>
        </p:txBody>
      </p:sp>
      <p:sp>
        <p:nvSpPr>
          <p:cNvPr id="4" name="Rectangle: Rounded Corners 3">
            <a:extLst>
              <a:ext uri="{FF2B5EF4-FFF2-40B4-BE49-F238E27FC236}">
                <a16:creationId xmlns:a16="http://schemas.microsoft.com/office/drawing/2014/main" id="{9F424011-57BD-4841-A644-DEF747083CC6}"/>
              </a:ext>
            </a:extLst>
          </p:cNvPr>
          <p:cNvSpPr>
            <a:spLocks noGrp="1"/>
          </p:cNvSpPr>
          <p:nvPr/>
        </p:nvSpPr>
        <p:spPr>
          <a:xfrm>
            <a:off x="2933700" y="2781300"/>
            <a:ext cx="1962150" cy="990600"/>
          </a:xfrm>
          <a:prstGeom prst="roundRect">
            <a:avLst>
              <a:gd name="adj" fmla="val 11538"/>
            </a:avLst>
          </a:prstGeom>
          <a:solidFill>
            <a:srgbClr val="000000"/>
          </a:solidFill>
          <a:ln w="0">
            <a:noFill/>
          </a:ln>
        </p:spPr>
        <p:txBody>
          <a:bodyPr lIns="95250" tIns="76200" rIns="95250" bIns="76200" anchor="ctr">
            <a:normAutofit/>
          </a:bodyPr>
          <a:lstStyle/>
          <a:p>
            <a:pPr algn="ctr">
              <a:defRPr sz="1575" b="1">
                <a:solidFill>
                  <a:srgbClr val="FFFFFF"/>
                </a:solidFill>
                <a:latin typeface="Nimbus Sans"/>
                <a:ea typeface="Nimbus Sans"/>
                <a:cs typeface="Nimbus Sans"/>
              </a:defRPr>
            </a:pPr>
            <a:r>
              <a:rPr sz="1575" b="1">
                <a:solidFill>
                  <a:srgbClr val="FFFFFF"/>
                </a:solidFill>
                <a:latin typeface="Nimbus Sans"/>
                <a:ea typeface="Nimbus Sans"/>
                <a:cs typeface="Nimbus Sans"/>
              </a:rPr>
              <a:t>Detect type and layout</a:t>
            </a:r>
          </a:p>
        </p:txBody>
      </p:sp>
      <p:sp>
        <p:nvSpPr>
          <p:cNvPr id="5" name="Rectangle: Rounded Corners 4">
            <a:extLst>
              <a:ext uri="{FF2B5EF4-FFF2-40B4-BE49-F238E27FC236}">
                <a16:creationId xmlns:a16="http://schemas.microsoft.com/office/drawing/2014/main" id="{993B3C4E-77E2-4638-AB4F-4B30479C62B2}"/>
              </a:ext>
            </a:extLst>
          </p:cNvPr>
          <p:cNvSpPr>
            <a:spLocks noGrp="1"/>
          </p:cNvSpPr>
          <p:nvPr/>
        </p:nvSpPr>
        <p:spPr>
          <a:xfrm>
            <a:off x="5695950" y="1733550"/>
            <a:ext cx="2095500" cy="800100"/>
          </a:xfrm>
          <a:prstGeom prst="roundRect">
            <a:avLst>
              <a:gd name="adj" fmla="val 14286"/>
            </a:avLst>
          </a:prstGeom>
          <a:solidFill>
            <a:srgbClr val="F2F2F2"/>
          </a:solidFill>
          <a:ln w="9525">
            <a:solidFill>
              <a:srgbClr val="CFCFCF"/>
            </a:solidFill>
          </a:ln>
        </p:spPr>
        <p:txBody>
          <a:bodyPr anchor="ctr">
            <a:normAutofit/>
          </a:bodyPr>
          <a:lstStyle/>
          <a:p>
            <a:pPr algn="ctr">
              <a:defRPr sz="1425" b="1">
                <a:solidFill>
                  <a:srgbClr val="000000"/>
                </a:solidFill>
                <a:latin typeface="Nimbus Sans"/>
                <a:ea typeface="Nimbus Sans"/>
                <a:cs typeface="Nimbus Sans"/>
              </a:defRPr>
            </a:pPr>
            <a:r>
              <a:rPr sz="1425" b="1">
                <a:solidFill>
                  <a:srgbClr val="000000"/>
                </a:solidFill>
                <a:latin typeface="Nimbus Sans"/>
                <a:ea typeface="Nimbus Sans"/>
                <a:cs typeface="Nimbus Sans"/>
              </a:rPr>
              <a:t>DOCX</a:t>
            </a:r>
          </a:p>
          <a:p>
            <a:pPr algn="ctr">
              <a:defRPr sz="1425" b="1">
                <a:solidFill>
                  <a:srgbClr val="000000"/>
                </a:solidFill>
                <a:latin typeface="Nimbus Sans"/>
                <a:ea typeface="Nimbus Sans"/>
                <a:cs typeface="Nimbus Sans"/>
              </a:defRPr>
            </a:pPr>
            <a:r>
              <a:rPr sz="1425" b="1">
                <a:solidFill>
                  <a:srgbClr val="000000"/>
                </a:solidFill>
                <a:latin typeface="Nimbus Sans"/>
                <a:ea typeface="Nimbus Sans"/>
                <a:cs typeface="Nimbus Sans"/>
              </a:rPr>
              <a:t>Native structure</a:t>
            </a:r>
          </a:p>
        </p:txBody>
      </p:sp>
      <p:sp>
        <p:nvSpPr>
          <p:cNvPr id="6" name="Rectangle: Rounded Corners 5">
            <a:extLst>
              <a:ext uri="{FF2B5EF4-FFF2-40B4-BE49-F238E27FC236}">
                <a16:creationId xmlns:a16="http://schemas.microsoft.com/office/drawing/2014/main" id="{C7F417C0-C9CC-41B2-ABA9-91FDB5C50F9A}"/>
              </a:ext>
            </a:extLst>
          </p:cNvPr>
          <p:cNvSpPr>
            <a:spLocks noGrp="1"/>
          </p:cNvSpPr>
          <p:nvPr/>
        </p:nvSpPr>
        <p:spPr>
          <a:xfrm>
            <a:off x="5695950" y="2781300"/>
            <a:ext cx="2095500" cy="800100"/>
          </a:xfrm>
          <a:prstGeom prst="roundRect">
            <a:avLst>
              <a:gd name="adj" fmla="val 14286"/>
            </a:avLst>
          </a:prstGeom>
          <a:solidFill>
            <a:srgbClr val="F2F2F2"/>
          </a:solidFill>
          <a:ln w="9525">
            <a:solidFill>
              <a:srgbClr val="CFCFCF"/>
            </a:solidFill>
          </a:ln>
        </p:spPr>
        <p:txBody>
          <a:bodyPr anchor="ctr">
            <a:normAutofit/>
          </a:bodyPr>
          <a:lstStyle/>
          <a:p>
            <a:pPr algn="ctr">
              <a:defRPr sz="1425" b="1">
                <a:solidFill>
                  <a:srgbClr val="000000"/>
                </a:solidFill>
                <a:latin typeface="Nimbus Sans"/>
                <a:ea typeface="Nimbus Sans"/>
                <a:cs typeface="Nimbus Sans"/>
              </a:defRPr>
            </a:pPr>
            <a:r>
              <a:rPr sz="1425" b="1">
                <a:solidFill>
                  <a:srgbClr val="000000"/>
                </a:solidFill>
                <a:latin typeface="Nimbus Sans"/>
                <a:ea typeface="Nimbus Sans"/>
                <a:cs typeface="Nimbus Sans"/>
              </a:rPr>
              <a:t>PDF</a:t>
            </a:r>
          </a:p>
          <a:p>
            <a:pPr algn="ctr">
              <a:defRPr sz="1425" b="1">
                <a:solidFill>
                  <a:srgbClr val="000000"/>
                </a:solidFill>
                <a:latin typeface="Nimbus Sans"/>
                <a:ea typeface="Nimbus Sans"/>
                <a:cs typeface="Nimbus Sans"/>
              </a:defRPr>
            </a:pPr>
            <a:r>
              <a:rPr sz="1425" b="1">
                <a:solidFill>
                  <a:srgbClr val="000000"/>
                </a:solidFill>
                <a:latin typeface="Nimbus Sans"/>
                <a:ea typeface="Nimbus Sans"/>
                <a:cs typeface="Nimbus Sans"/>
              </a:rPr>
              <a:t>Page layout</a:t>
            </a:r>
          </a:p>
        </p:txBody>
      </p:sp>
      <p:sp>
        <p:nvSpPr>
          <p:cNvPr id="7" name="Rectangle: Rounded Corners 6">
            <a:extLst>
              <a:ext uri="{FF2B5EF4-FFF2-40B4-BE49-F238E27FC236}">
                <a16:creationId xmlns:a16="http://schemas.microsoft.com/office/drawing/2014/main" id="{3D5B78B7-9A4D-4FC3-B57D-04D82D33F70C}"/>
              </a:ext>
            </a:extLst>
          </p:cNvPr>
          <p:cNvSpPr>
            <a:spLocks noGrp="1"/>
          </p:cNvSpPr>
          <p:nvPr/>
        </p:nvSpPr>
        <p:spPr>
          <a:xfrm>
            <a:off x="5695950" y="3829050"/>
            <a:ext cx="2095500" cy="800100"/>
          </a:xfrm>
          <a:prstGeom prst="roundRect">
            <a:avLst>
              <a:gd name="adj" fmla="val 14286"/>
            </a:avLst>
          </a:prstGeom>
          <a:solidFill>
            <a:srgbClr val="F2F2F2"/>
          </a:solidFill>
          <a:ln w="9525">
            <a:solidFill>
              <a:srgbClr val="CFCFCF"/>
            </a:solidFill>
          </a:ln>
        </p:spPr>
        <p:txBody>
          <a:bodyPr anchor="ctr">
            <a:normAutofit/>
          </a:bodyPr>
          <a:lstStyle/>
          <a:p>
            <a:pPr algn="ctr">
              <a:defRPr sz="1425" b="1">
                <a:solidFill>
                  <a:srgbClr val="000000"/>
                </a:solidFill>
                <a:latin typeface="Nimbus Sans"/>
                <a:ea typeface="Nimbus Sans"/>
                <a:cs typeface="Nimbus Sans"/>
              </a:defRPr>
            </a:pPr>
            <a:r>
              <a:rPr sz="1425" b="1">
                <a:solidFill>
                  <a:srgbClr val="000000"/>
                </a:solidFill>
                <a:latin typeface="Nimbus Sans"/>
                <a:ea typeface="Nimbus Sans"/>
                <a:cs typeface="Nimbus Sans"/>
              </a:rPr>
              <a:t>CSV</a:t>
            </a:r>
          </a:p>
          <a:p>
            <a:pPr algn="ctr">
              <a:defRPr sz="1425" b="1">
                <a:solidFill>
                  <a:srgbClr val="000000"/>
                </a:solidFill>
                <a:latin typeface="Nimbus Sans"/>
                <a:ea typeface="Nimbus Sans"/>
                <a:cs typeface="Nimbus Sans"/>
              </a:defRPr>
            </a:pPr>
            <a:r>
              <a:rPr sz="1425" b="1">
                <a:solidFill>
                  <a:srgbClr val="000000"/>
                </a:solidFill>
                <a:latin typeface="Nimbus Sans"/>
                <a:ea typeface="Nimbus Sans"/>
                <a:cs typeface="Nimbus Sans"/>
              </a:rPr>
              <a:t>Schema checks</a:t>
            </a:r>
          </a:p>
        </p:txBody>
      </p:sp>
      <p:sp>
        <p:nvSpPr>
          <p:cNvPr id="8" name="Rectangle: Rounded Corners 7">
            <a:extLst>
              <a:ext uri="{FF2B5EF4-FFF2-40B4-BE49-F238E27FC236}">
                <a16:creationId xmlns:a16="http://schemas.microsoft.com/office/drawing/2014/main" id="{54A6AA16-7DCD-4345-BD8E-96DC6A92186E}"/>
              </a:ext>
            </a:extLst>
          </p:cNvPr>
          <p:cNvSpPr>
            <a:spLocks noGrp="1"/>
          </p:cNvSpPr>
          <p:nvPr/>
        </p:nvSpPr>
        <p:spPr>
          <a:xfrm>
            <a:off x="8763000" y="2781300"/>
            <a:ext cx="2571750" cy="990600"/>
          </a:xfrm>
          <a:prstGeom prst="roundRect">
            <a:avLst>
              <a:gd name="adj" fmla="val 11538"/>
            </a:avLst>
          </a:prstGeom>
          <a:solidFill>
            <a:srgbClr val="FFFFFF"/>
          </a:solidFill>
          <a:ln w="9525">
            <a:solidFill>
              <a:srgbClr val="000000"/>
            </a:solidFill>
          </a:ln>
        </p:spPr>
        <p:txBody>
          <a:bodyPr anchor="ctr">
            <a:normAutofit/>
          </a:bodyPr>
          <a:lstStyle/>
          <a:p>
            <a:pPr algn="ctr">
              <a:defRPr sz="1650" b="1">
                <a:solidFill>
                  <a:srgbClr val="000000"/>
                </a:solidFill>
                <a:latin typeface="Nimbus Sans"/>
                <a:ea typeface="Nimbus Sans"/>
                <a:cs typeface="Nimbus Sans"/>
              </a:defRPr>
            </a:pPr>
            <a:r>
              <a:rPr sz="1650" b="1">
                <a:solidFill>
                  <a:srgbClr val="000000"/>
                </a:solidFill>
                <a:latin typeface="Nimbus Sans"/>
                <a:ea typeface="Nimbus Sans"/>
                <a:cs typeface="Nimbus Sans"/>
              </a:rPr>
              <a:t>Normalized JSON</a:t>
            </a:r>
          </a:p>
          <a:p>
            <a:pPr algn="ctr">
              <a:defRPr sz="1650" b="1">
                <a:solidFill>
                  <a:srgbClr val="000000"/>
                </a:solidFill>
                <a:latin typeface="Nimbus Sans"/>
                <a:ea typeface="Nimbus Sans"/>
                <a:cs typeface="Nimbus Sans"/>
              </a:defRPr>
            </a:pPr>
            <a:r>
              <a:rPr sz="1650" b="1">
                <a:solidFill>
                  <a:srgbClr val="000000"/>
                </a:solidFill>
                <a:latin typeface="Nimbus Sans"/>
                <a:ea typeface="Nimbus Sans"/>
                <a:cs typeface="Nimbus Sans"/>
              </a:rPr>
              <a:t>with warnings</a:t>
            </a:r>
          </a:p>
        </p:txBody>
      </p:sp>
      <p:sp>
        <p:nvSpPr>
          <p:cNvPr id="16" name="Rectangle 15">
            <a:extLst>
              <a:ext uri="{FF2B5EF4-FFF2-40B4-BE49-F238E27FC236}">
                <a16:creationId xmlns:a16="http://schemas.microsoft.com/office/drawing/2014/main" id="{7FBDA34C-B97F-47EC-AD8E-06EF9EE78073}"/>
              </a:ext>
            </a:extLst>
          </p:cNvPr>
          <p:cNvSpPr>
            <a:spLocks noGrp="1"/>
          </p:cNvSpPr>
          <p:nvPr/>
        </p:nvSpPr>
        <p:spPr>
          <a:xfrm>
            <a:off x="3257550" y="5562600"/>
            <a:ext cx="5676900" cy="400050"/>
          </a:xfrm>
          <a:prstGeom prst="rect">
            <a:avLst/>
          </a:prstGeom>
          <a:noFill/>
          <a:ln w="0">
            <a:noFill/>
          </a:ln>
        </p:spPr>
        <p:txBody>
          <a:bodyPr wrap="square" lIns="28575" tIns="19050" rIns="28575" bIns="19050" anchor="t">
            <a:normAutofit/>
          </a:bodyPr>
          <a:lstStyle/>
          <a:p>
            <a:pPr algn="ctr">
              <a:lnSpc>
                <a:spcPct val="100000"/>
              </a:lnSpc>
              <a:buNone/>
              <a:defRPr sz="1650" b="1">
                <a:solidFill>
                  <a:srgbClr val="000000"/>
                </a:solidFill>
                <a:latin typeface="Nimbus Sans"/>
                <a:ea typeface="Nimbus Sans"/>
                <a:cs typeface="Nimbus Sans"/>
              </a:defRPr>
            </a:pPr>
            <a:r>
              <a:rPr sz="1650" b="1" dirty="0">
                <a:solidFill>
                  <a:srgbClr val="000000"/>
                </a:solidFill>
                <a:latin typeface="Nimbus Sans"/>
                <a:ea typeface="Nimbus Sans"/>
                <a:cs typeface="Nimbus Sans"/>
              </a:rPr>
              <a:t>This is the planned hybrid parsing approach</a:t>
            </a:r>
          </a:p>
        </p:txBody>
      </p:sp>
      <p:sp>
        <p:nvSpPr>
          <p:cNvPr id="17" name="Rectangle 16">
            <a:extLst>
              <a:ext uri="{FF2B5EF4-FFF2-40B4-BE49-F238E27FC236}">
                <a16:creationId xmlns:a16="http://schemas.microsoft.com/office/drawing/2014/main" id="{E452CBF9-118D-4813-A983-60A1115C3E53}"/>
              </a:ext>
            </a:extLst>
          </p:cNvPr>
          <p:cNvSpPr>
            <a:spLocks noGrp="1"/>
          </p:cNvSpPr>
          <p:nvPr/>
        </p:nvSpPr>
        <p:spPr>
          <a:xfrm>
            <a:off x="11144250" y="6381750"/>
            <a:ext cx="419100" cy="228600"/>
          </a:xfrm>
          <a:prstGeom prst="rect">
            <a:avLst/>
          </a:prstGeom>
          <a:noFill/>
          <a:ln w="0">
            <a:noFill/>
          </a:ln>
        </p:spPr>
        <p:txBody>
          <a:bodyPr wrap="square" lIns="28575" tIns="19050" rIns="28575" bIns="19050" anchor="t">
            <a:normAutofit/>
          </a:bodyPr>
          <a:lstStyle/>
          <a:p>
            <a:pPr algn="r">
              <a:lnSpc>
                <a:spcPct val="100000"/>
              </a:lnSpc>
              <a:buNone/>
              <a:defRPr sz="900" b="0">
                <a:solidFill>
                  <a:srgbClr val="7A879A"/>
                </a:solidFill>
                <a:latin typeface="Nimbus Sans"/>
                <a:ea typeface="Nimbus Sans"/>
                <a:cs typeface="Nimbus Sans"/>
              </a:defRPr>
            </a:pPr>
            <a:r>
              <a:rPr sz="900" b="0">
                <a:solidFill>
                  <a:srgbClr val="7A879A"/>
                </a:solidFill>
                <a:latin typeface="Nimbus Sans"/>
                <a:ea typeface="Nimbus Sans"/>
                <a:cs typeface="Nimbus Sans"/>
              </a:rPr>
              <a:t>03</a:t>
            </a:r>
          </a:p>
        </p:txBody>
      </p:sp>
    </p:spTree>
    <p:extLst>
      <p:ext uri="{BB962C8B-B14F-4D97-AF65-F5344CB8AC3E}">
        <p14:creationId xmlns:p14="http://schemas.microsoft.com/office/powerpoint/2010/main" val="306325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C2AD4551-E0B5-455D-AE2A-D1A4983636B4}"/>
              </a:ext>
            </a:extLst>
          </p:cNvPr>
          <p:cNvSpPr>
            <a:spLocks noGrp="1"/>
          </p:cNvSpPr>
          <p:nvPr/>
        </p:nvSpPr>
        <p:spPr>
          <a:xfrm>
            <a:off x="685800" y="438150"/>
            <a:ext cx="10191750" cy="552450"/>
          </a:xfrm>
          <a:prstGeom prst="rect">
            <a:avLst/>
          </a:prstGeom>
          <a:noFill/>
          <a:ln w="0">
            <a:noFill/>
          </a:ln>
        </p:spPr>
        <p:txBody>
          <a:bodyPr wrap="square" lIns="28575" tIns="19050" rIns="28575" bIns="19050" anchor="t">
            <a:normAutofit/>
          </a:bodyPr>
          <a:lstStyle/>
          <a:p>
            <a:pPr algn="l">
              <a:lnSpc>
                <a:spcPct val="100000"/>
              </a:lnSpc>
              <a:buNone/>
              <a:defRPr sz="2700" b="1">
                <a:solidFill>
                  <a:srgbClr val="000000"/>
                </a:solidFill>
                <a:latin typeface="Nimbus Sans"/>
                <a:ea typeface="Nimbus Sans"/>
                <a:cs typeface="Nimbus Sans"/>
              </a:defRPr>
            </a:pPr>
            <a:r>
              <a:rPr sz="2700" b="1">
                <a:solidFill>
                  <a:srgbClr val="000000"/>
                </a:solidFill>
                <a:latin typeface="Nimbus Sans"/>
                <a:ea typeface="Nimbus Sans"/>
                <a:cs typeface="Nimbus Sans"/>
              </a:rPr>
              <a:t>The live demonstration</a:t>
            </a:r>
          </a:p>
        </p:txBody>
      </p:sp>
      <p:sp>
        <p:nvSpPr>
          <p:cNvPr id="2" name="Rectangle 1">
            <a:extLst>
              <a:ext uri="{FF2B5EF4-FFF2-40B4-BE49-F238E27FC236}">
                <a16:creationId xmlns:a16="http://schemas.microsoft.com/office/drawing/2014/main" id="{AB9798C0-C11E-47E6-A950-5F007147C2A6}"/>
              </a:ext>
            </a:extLst>
          </p:cNvPr>
          <p:cNvSpPr>
            <a:spLocks noGrp="1"/>
          </p:cNvSpPr>
          <p:nvPr/>
        </p:nvSpPr>
        <p:spPr>
          <a:xfrm>
            <a:off x="704850" y="1009650"/>
            <a:ext cx="10287000" cy="400050"/>
          </a:xfrm>
          <a:prstGeom prst="rect">
            <a:avLst/>
          </a:prstGeom>
          <a:noFill/>
          <a:ln w="0">
            <a:noFill/>
          </a:ln>
        </p:spPr>
        <p:txBody>
          <a:bodyPr wrap="square" lIns="28575" tIns="19050" rIns="28575" bIns="19050" anchor="t">
            <a:normAutofit/>
          </a:bodyPr>
          <a:lstStyle/>
          <a:p>
            <a:pPr algn="l">
              <a:lnSpc>
                <a:spcPct val="100000"/>
              </a:lnSpc>
              <a:buNone/>
              <a:defRPr sz="1425" b="0">
                <a:solidFill>
                  <a:srgbClr val="3F3F3F"/>
                </a:solidFill>
                <a:latin typeface="Nimbus Sans"/>
                <a:ea typeface="Nimbus Sans"/>
                <a:cs typeface="Nimbus Sans"/>
              </a:defRPr>
            </a:pPr>
            <a:r>
              <a:rPr sz="1425" b="0">
                <a:solidFill>
                  <a:srgbClr val="3F3F3F"/>
                </a:solidFill>
                <a:latin typeface="Nimbus Sans"/>
                <a:ea typeface="Nimbus Sans"/>
                <a:cs typeface="Nimbus Sans"/>
              </a:rPr>
              <a:t>A single upload shows the complete parsing decision and result</a:t>
            </a:r>
          </a:p>
        </p:txBody>
      </p:sp>
      <p:sp>
        <p:nvSpPr>
          <p:cNvPr id="3" name="Rectangle 2">
            <a:extLst>
              <a:ext uri="{FF2B5EF4-FFF2-40B4-BE49-F238E27FC236}">
                <a16:creationId xmlns:a16="http://schemas.microsoft.com/office/drawing/2014/main" id="{D42D0F58-63D5-4002-8391-985161333238}"/>
              </a:ext>
            </a:extLst>
          </p:cNvPr>
          <p:cNvSpPr>
            <a:spLocks noGrp="1"/>
          </p:cNvSpPr>
          <p:nvPr/>
        </p:nvSpPr>
        <p:spPr>
          <a:xfrm>
            <a:off x="857250" y="1752600"/>
            <a:ext cx="666750" cy="685800"/>
          </a:xfrm>
          <a:prstGeom prst="rect">
            <a:avLst/>
          </a:prstGeom>
          <a:noFill/>
          <a:ln w="0">
            <a:noFill/>
          </a:ln>
        </p:spPr>
        <p:txBody>
          <a:bodyPr wrap="square" lIns="28575" tIns="19050" rIns="28575" bIns="19050" anchor="ctr">
            <a:normAutofit/>
          </a:bodyPr>
          <a:lstStyle/>
          <a:p>
            <a:pPr algn="ctr">
              <a:lnSpc>
                <a:spcPct val="100000"/>
              </a:lnSpc>
              <a:buNone/>
              <a:defRPr sz="3600" b="1">
                <a:solidFill>
                  <a:srgbClr val="000000"/>
                </a:solidFill>
                <a:latin typeface="Nimbus Sans"/>
                <a:ea typeface="Nimbus Sans"/>
                <a:cs typeface="Nimbus Sans"/>
              </a:defRPr>
            </a:pPr>
            <a:r>
              <a:rPr sz="3600" b="1">
                <a:solidFill>
                  <a:srgbClr val="000000"/>
                </a:solidFill>
                <a:latin typeface="Nimbus Sans"/>
                <a:ea typeface="Nimbus Sans"/>
                <a:cs typeface="Nimbus Sans"/>
              </a:rPr>
              <a:t>1</a:t>
            </a:r>
          </a:p>
        </p:txBody>
      </p:sp>
      <p:sp>
        <p:nvSpPr>
          <p:cNvPr id="4" name="Rectangle 3">
            <a:extLst>
              <a:ext uri="{FF2B5EF4-FFF2-40B4-BE49-F238E27FC236}">
                <a16:creationId xmlns:a16="http://schemas.microsoft.com/office/drawing/2014/main" id="{F4B0FDC1-1B53-492B-84B3-8BE0A8BC172D}"/>
              </a:ext>
            </a:extLst>
          </p:cNvPr>
          <p:cNvSpPr>
            <a:spLocks noGrp="1"/>
          </p:cNvSpPr>
          <p:nvPr/>
        </p:nvSpPr>
        <p:spPr>
          <a:xfrm>
            <a:off x="1638300" y="1771650"/>
            <a:ext cx="4171950" cy="323850"/>
          </a:xfrm>
          <a:prstGeom prst="rect">
            <a:avLst/>
          </a:prstGeom>
          <a:noFill/>
          <a:ln w="0">
            <a:noFill/>
          </a:ln>
        </p:spPr>
        <p:txBody>
          <a:bodyPr wrap="square" lIns="28575" tIns="19050" rIns="28575" bIns="19050" anchor="t">
            <a:normAutofit/>
          </a:bodyPr>
          <a:lstStyle/>
          <a:p>
            <a:pPr algn="l">
              <a:lnSpc>
                <a:spcPct val="100000"/>
              </a:lnSpc>
              <a:buNone/>
              <a:defRPr sz="1725" b="1">
                <a:solidFill>
                  <a:srgbClr val="000000"/>
                </a:solidFill>
                <a:latin typeface="Nimbus Sans"/>
                <a:ea typeface="Nimbus Sans"/>
                <a:cs typeface="Nimbus Sans"/>
              </a:defRPr>
            </a:pPr>
            <a:r>
              <a:rPr sz="1725" b="1">
                <a:solidFill>
                  <a:srgbClr val="000000"/>
                </a:solidFill>
                <a:latin typeface="Nimbus Sans"/>
                <a:ea typeface="Nimbus Sans"/>
                <a:cs typeface="Nimbus Sans"/>
              </a:rPr>
              <a:t>Select a file</a:t>
            </a:r>
          </a:p>
        </p:txBody>
      </p:sp>
      <p:sp>
        <p:nvSpPr>
          <p:cNvPr id="5" name="Rectangle 4">
            <a:extLst>
              <a:ext uri="{FF2B5EF4-FFF2-40B4-BE49-F238E27FC236}">
                <a16:creationId xmlns:a16="http://schemas.microsoft.com/office/drawing/2014/main" id="{9930E4C9-63F3-473B-8815-240ADA804BD9}"/>
              </a:ext>
            </a:extLst>
          </p:cNvPr>
          <p:cNvSpPr>
            <a:spLocks noGrp="1"/>
          </p:cNvSpPr>
          <p:nvPr/>
        </p:nvSpPr>
        <p:spPr>
          <a:xfrm>
            <a:off x="1638300" y="2133600"/>
            <a:ext cx="4171950" cy="609600"/>
          </a:xfrm>
          <a:prstGeom prst="rect">
            <a:avLst/>
          </a:prstGeom>
          <a:noFill/>
          <a:ln w="0">
            <a:noFill/>
          </a:ln>
        </p:spPr>
        <p:txBody>
          <a:bodyPr wrap="square" lIns="28575" tIns="19050" rIns="28575" bIns="19050" anchor="t">
            <a:normAutofit/>
          </a:bodyPr>
          <a:lstStyle/>
          <a:p>
            <a:pPr algn="l">
              <a:lnSpc>
                <a:spcPct val="108000"/>
              </a:lnSpc>
              <a:buNone/>
              <a:defRPr sz="1275" b="0">
                <a:solidFill>
                  <a:srgbClr val="3F3F3F"/>
                </a:solidFill>
                <a:latin typeface="Nimbus Sans"/>
                <a:ea typeface="Nimbus Sans"/>
                <a:cs typeface="Nimbus Sans"/>
              </a:defRPr>
            </a:pPr>
            <a:r>
              <a:rPr sz="1275" b="0">
                <a:solidFill>
                  <a:srgbClr val="3F3F3F"/>
                </a:solidFill>
                <a:latin typeface="Nimbus Sans"/>
                <a:ea typeface="Nimbus Sans"/>
                <a:cs typeface="Nimbus Sans"/>
              </a:rPr>
              <a:t>Choose a DOCX, digital PDF, or one of the two schedule CSV files.</a:t>
            </a:r>
          </a:p>
        </p:txBody>
      </p:sp>
      <p:sp>
        <p:nvSpPr>
          <p:cNvPr id="6" name="Rectangle 5">
            <a:extLst>
              <a:ext uri="{FF2B5EF4-FFF2-40B4-BE49-F238E27FC236}">
                <a16:creationId xmlns:a16="http://schemas.microsoft.com/office/drawing/2014/main" id="{CB8FB777-0B75-4606-BB3C-C8DC90F26C05}"/>
              </a:ext>
            </a:extLst>
          </p:cNvPr>
          <p:cNvSpPr>
            <a:spLocks noGrp="1"/>
          </p:cNvSpPr>
          <p:nvPr/>
        </p:nvSpPr>
        <p:spPr>
          <a:xfrm>
            <a:off x="6381750" y="1752600"/>
            <a:ext cx="666750" cy="685800"/>
          </a:xfrm>
          <a:prstGeom prst="rect">
            <a:avLst/>
          </a:prstGeom>
          <a:noFill/>
          <a:ln w="0">
            <a:noFill/>
          </a:ln>
        </p:spPr>
        <p:txBody>
          <a:bodyPr wrap="square" lIns="28575" tIns="19050" rIns="28575" bIns="19050" anchor="ctr">
            <a:normAutofit/>
          </a:bodyPr>
          <a:lstStyle/>
          <a:p>
            <a:pPr algn="ctr">
              <a:lnSpc>
                <a:spcPct val="100000"/>
              </a:lnSpc>
              <a:buNone/>
              <a:defRPr sz="3600" b="1">
                <a:solidFill>
                  <a:srgbClr val="000000"/>
                </a:solidFill>
                <a:latin typeface="Nimbus Sans"/>
                <a:ea typeface="Nimbus Sans"/>
                <a:cs typeface="Nimbus Sans"/>
              </a:defRPr>
            </a:pPr>
            <a:r>
              <a:rPr sz="3600" b="1">
                <a:solidFill>
                  <a:srgbClr val="000000"/>
                </a:solidFill>
                <a:latin typeface="Nimbus Sans"/>
                <a:ea typeface="Nimbus Sans"/>
                <a:cs typeface="Nimbus Sans"/>
              </a:rPr>
              <a:t>2</a:t>
            </a:r>
          </a:p>
        </p:txBody>
      </p:sp>
      <p:sp>
        <p:nvSpPr>
          <p:cNvPr id="7" name="Rectangle 6">
            <a:extLst>
              <a:ext uri="{FF2B5EF4-FFF2-40B4-BE49-F238E27FC236}">
                <a16:creationId xmlns:a16="http://schemas.microsoft.com/office/drawing/2014/main" id="{0B030E23-C3EA-4409-9645-897464C48354}"/>
              </a:ext>
            </a:extLst>
          </p:cNvPr>
          <p:cNvSpPr>
            <a:spLocks noGrp="1"/>
          </p:cNvSpPr>
          <p:nvPr/>
        </p:nvSpPr>
        <p:spPr>
          <a:xfrm>
            <a:off x="7162800" y="1771650"/>
            <a:ext cx="4171950" cy="323850"/>
          </a:xfrm>
          <a:prstGeom prst="rect">
            <a:avLst/>
          </a:prstGeom>
          <a:noFill/>
          <a:ln w="0">
            <a:noFill/>
          </a:ln>
        </p:spPr>
        <p:txBody>
          <a:bodyPr wrap="square" lIns="28575" tIns="19050" rIns="28575" bIns="19050" anchor="t">
            <a:normAutofit/>
          </a:bodyPr>
          <a:lstStyle/>
          <a:p>
            <a:pPr algn="l">
              <a:lnSpc>
                <a:spcPct val="100000"/>
              </a:lnSpc>
              <a:buNone/>
              <a:defRPr sz="1725" b="1">
                <a:solidFill>
                  <a:srgbClr val="000000"/>
                </a:solidFill>
                <a:latin typeface="Nimbus Sans"/>
                <a:ea typeface="Nimbus Sans"/>
                <a:cs typeface="Nimbus Sans"/>
              </a:defRPr>
            </a:pPr>
            <a:r>
              <a:rPr sz="1725" b="1">
                <a:solidFill>
                  <a:srgbClr val="000000"/>
                </a:solidFill>
                <a:latin typeface="Nimbus Sans"/>
                <a:ea typeface="Nimbus Sans"/>
                <a:cs typeface="Nimbus Sans"/>
              </a:rPr>
              <a:t>Run automatic detection</a:t>
            </a:r>
          </a:p>
        </p:txBody>
      </p:sp>
      <p:sp>
        <p:nvSpPr>
          <p:cNvPr id="8" name="Rectangle 7">
            <a:extLst>
              <a:ext uri="{FF2B5EF4-FFF2-40B4-BE49-F238E27FC236}">
                <a16:creationId xmlns:a16="http://schemas.microsoft.com/office/drawing/2014/main" id="{55AD2DCF-7247-40A0-B9C1-316092CC2095}"/>
              </a:ext>
            </a:extLst>
          </p:cNvPr>
          <p:cNvSpPr>
            <a:spLocks noGrp="1"/>
          </p:cNvSpPr>
          <p:nvPr/>
        </p:nvSpPr>
        <p:spPr>
          <a:xfrm>
            <a:off x="7162800" y="2133600"/>
            <a:ext cx="4171950" cy="609600"/>
          </a:xfrm>
          <a:prstGeom prst="rect">
            <a:avLst/>
          </a:prstGeom>
          <a:noFill/>
          <a:ln w="0">
            <a:noFill/>
          </a:ln>
        </p:spPr>
        <p:txBody>
          <a:bodyPr wrap="square" lIns="28575" tIns="19050" rIns="28575" bIns="19050" anchor="t">
            <a:normAutofit/>
          </a:bodyPr>
          <a:lstStyle/>
          <a:p>
            <a:pPr algn="l">
              <a:lnSpc>
                <a:spcPct val="108000"/>
              </a:lnSpc>
              <a:buNone/>
              <a:defRPr sz="1275" b="0">
                <a:solidFill>
                  <a:srgbClr val="3F3F3F"/>
                </a:solidFill>
                <a:latin typeface="Nimbus Sans"/>
                <a:ea typeface="Nimbus Sans"/>
                <a:cs typeface="Nimbus Sans"/>
              </a:defRPr>
            </a:pPr>
            <a:r>
              <a:rPr sz="1275" b="0">
                <a:solidFill>
                  <a:srgbClr val="3F3F3F"/>
                </a:solidFill>
                <a:latin typeface="Nimbus Sans"/>
                <a:ea typeface="Nimbus Sans"/>
                <a:cs typeface="Nimbus Sans"/>
              </a:rPr>
              <a:t>The application identifies the document type and chooses the appropriate parser branch.</a:t>
            </a:r>
          </a:p>
        </p:txBody>
      </p:sp>
      <p:sp>
        <p:nvSpPr>
          <p:cNvPr id="9" name="Rectangle 8">
            <a:extLst>
              <a:ext uri="{FF2B5EF4-FFF2-40B4-BE49-F238E27FC236}">
                <a16:creationId xmlns:a16="http://schemas.microsoft.com/office/drawing/2014/main" id="{05C15B1F-1CD5-4F85-A83E-91F4A37D973E}"/>
              </a:ext>
            </a:extLst>
          </p:cNvPr>
          <p:cNvSpPr>
            <a:spLocks noGrp="1"/>
          </p:cNvSpPr>
          <p:nvPr/>
        </p:nvSpPr>
        <p:spPr>
          <a:xfrm>
            <a:off x="857250" y="3752850"/>
            <a:ext cx="666750" cy="685800"/>
          </a:xfrm>
          <a:prstGeom prst="rect">
            <a:avLst/>
          </a:prstGeom>
          <a:noFill/>
          <a:ln w="0">
            <a:noFill/>
          </a:ln>
        </p:spPr>
        <p:txBody>
          <a:bodyPr wrap="square" lIns="28575" tIns="19050" rIns="28575" bIns="19050" anchor="ctr">
            <a:normAutofit/>
          </a:bodyPr>
          <a:lstStyle/>
          <a:p>
            <a:pPr algn="ctr">
              <a:lnSpc>
                <a:spcPct val="100000"/>
              </a:lnSpc>
              <a:buNone/>
              <a:defRPr sz="3600" b="1">
                <a:solidFill>
                  <a:srgbClr val="000000"/>
                </a:solidFill>
                <a:latin typeface="Nimbus Sans"/>
                <a:ea typeface="Nimbus Sans"/>
                <a:cs typeface="Nimbus Sans"/>
              </a:defRPr>
            </a:pPr>
            <a:r>
              <a:rPr sz="3600" b="1">
                <a:solidFill>
                  <a:srgbClr val="000000"/>
                </a:solidFill>
                <a:latin typeface="Nimbus Sans"/>
                <a:ea typeface="Nimbus Sans"/>
                <a:cs typeface="Nimbus Sans"/>
              </a:rPr>
              <a:t>3</a:t>
            </a:r>
          </a:p>
        </p:txBody>
      </p:sp>
      <p:sp>
        <p:nvSpPr>
          <p:cNvPr id="10" name="Rectangle 9">
            <a:extLst>
              <a:ext uri="{FF2B5EF4-FFF2-40B4-BE49-F238E27FC236}">
                <a16:creationId xmlns:a16="http://schemas.microsoft.com/office/drawing/2014/main" id="{D5BF397B-9D0C-4880-99DC-4C688B628D23}"/>
              </a:ext>
            </a:extLst>
          </p:cNvPr>
          <p:cNvSpPr>
            <a:spLocks noGrp="1"/>
          </p:cNvSpPr>
          <p:nvPr/>
        </p:nvSpPr>
        <p:spPr>
          <a:xfrm>
            <a:off x="1638300" y="3771900"/>
            <a:ext cx="4171950" cy="323850"/>
          </a:xfrm>
          <a:prstGeom prst="rect">
            <a:avLst/>
          </a:prstGeom>
          <a:noFill/>
          <a:ln w="0">
            <a:noFill/>
          </a:ln>
        </p:spPr>
        <p:txBody>
          <a:bodyPr wrap="square" lIns="28575" tIns="19050" rIns="28575" bIns="19050" anchor="t">
            <a:normAutofit/>
          </a:bodyPr>
          <a:lstStyle/>
          <a:p>
            <a:pPr algn="l">
              <a:lnSpc>
                <a:spcPct val="100000"/>
              </a:lnSpc>
              <a:buNone/>
              <a:defRPr sz="1725" b="1">
                <a:solidFill>
                  <a:srgbClr val="000000"/>
                </a:solidFill>
                <a:latin typeface="Nimbus Sans"/>
                <a:ea typeface="Nimbus Sans"/>
                <a:cs typeface="Nimbus Sans"/>
              </a:defRPr>
            </a:pPr>
            <a:r>
              <a:rPr sz="1725" b="1">
                <a:solidFill>
                  <a:srgbClr val="000000"/>
                </a:solidFill>
                <a:latin typeface="Nimbus Sans"/>
                <a:ea typeface="Nimbus Sans"/>
                <a:cs typeface="Nimbus Sans"/>
              </a:rPr>
              <a:t>Review normalized output</a:t>
            </a:r>
          </a:p>
        </p:txBody>
      </p:sp>
      <p:sp>
        <p:nvSpPr>
          <p:cNvPr id="11" name="Rectangle 10">
            <a:extLst>
              <a:ext uri="{FF2B5EF4-FFF2-40B4-BE49-F238E27FC236}">
                <a16:creationId xmlns:a16="http://schemas.microsoft.com/office/drawing/2014/main" id="{2DA20E0B-8055-4D6E-8A5A-A98F3BF0E20A}"/>
              </a:ext>
            </a:extLst>
          </p:cNvPr>
          <p:cNvSpPr>
            <a:spLocks noGrp="1"/>
          </p:cNvSpPr>
          <p:nvPr/>
        </p:nvSpPr>
        <p:spPr>
          <a:xfrm>
            <a:off x="1638300" y="4133850"/>
            <a:ext cx="4171950" cy="609600"/>
          </a:xfrm>
          <a:prstGeom prst="rect">
            <a:avLst/>
          </a:prstGeom>
          <a:noFill/>
          <a:ln w="0">
            <a:noFill/>
          </a:ln>
        </p:spPr>
        <p:txBody>
          <a:bodyPr wrap="square" lIns="28575" tIns="19050" rIns="28575" bIns="19050" anchor="t">
            <a:normAutofit/>
          </a:bodyPr>
          <a:lstStyle/>
          <a:p>
            <a:pPr algn="l">
              <a:lnSpc>
                <a:spcPct val="108000"/>
              </a:lnSpc>
              <a:buNone/>
              <a:defRPr sz="1275" b="0">
                <a:solidFill>
                  <a:srgbClr val="3F3F3F"/>
                </a:solidFill>
                <a:latin typeface="Nimbus Sans"/>
                <a:ea typeface="Nimbus Sans"/>
                <a:cs typeface="Nimbus Sans"/>
              </a:defRPr>
            </a:pPr>
            <a:r>
              <a:rPr sz="1275" b="0" dirty="0">
                <a:solidFill>
                  <a:srgbClr val="3F3F3F"/>
                </a:solidFill>
                <a:latin typeface="Nimbus Sans"/>
                <a:ea typeface="Nimbus Sans"/>
                <a:cs typeface="Nimbus Sans"/>
              </a:rPr>
              <a:t>The response shows the strategy used, record count, source details, and any warnings.</a:t>
            </a:r>
          </a:p>
        </p:txBody>
      </p:sp>
      <p:sp>
        <p:nvSpPr>
          <p:cNvPr id="12" name="Rectangle 11">
            <a:extLst>
              <a:ext uri="{FF2B5EF4-FFF2-40B4-BE49-F238E27FC236}">
                <a16:creationId xmlns:a16="http://schemas.microsoft.com/office/drawing/2014/main" id="{87FA277A-2B85-4055-8601-F51DBA8A2098}"/>
              </a:ext>
            </a:extLst>
          </p:cNvPr>
          <p:cNvSpPr>
            <a:spLocks noGrp="1"/>
          </p:cNvSpPr>
          <p:nvPr/>
        </p:nvSpPr>
        <p:spPr>
          <a:xfrm>
            <a:off x="6381750" y="3752850"/>
            <a:ext cx="666750" cy="685800"/>
          </a:xfrm>
          <a:prstGeom prst="rect">
            <a:avLst/>
          </a:prstGeom>
          <a:noFill/>
          <a:ln w="0">
            <a:noFill/>
          </a:ln>
        </p:spPr>
        <p:txBody>
          <a:bodyPr wrap="square" lIns="28575" tIns="19050" rIns="28575" bIns="19050" anchor="ctr">
            <a:normAutofit/>
          </a:bodyPr>
          <a:lstStyle/>
          <a:p>
            <a:pPr algn="ctr">
              <a:lnSpc>
                <a:spcPct val="100000"/>
              </a:lnSpc>
              <a:buNone/>
              <a:defRPr sz="3600" b="1">
                <a:solidFill>
                  <a:srgbClr val="000000"/>
                </a:solidFill>
                <a:latin typeface="Nimbus Sans"/>
                <a:ea typeface="Nimbus Sans"/>
                <a:cs typeface="Nimbus Sans"/>
              </a:defRPr>
            </a:pPr>
            <a:r>
              <a:rPr sz="3600" b="1">
                <a:solidFill>
                  <a:srgbClr val="000000"/>
                </a:solidFill>
                <a:latin typeface="Nimbus Sans"/>
                <a:ea typeface="Nimbus Sans"/>
                <a:cs typeface="Nimbus Sans"/>
              </a:rPr>
              <a:t>4</a:t>
            </a:r>
          </a:p>
        </p:txBody>
      </p:sp>
      <p:sp>
        <p:nvSpPr>
          <p:cNvPr id="13" name="Rectangle 12">
            <a:extLst>
              <a:ext uri="{FF2B5EF4-FFF2-40B4-BE49-F238E27FC236}">
                <a16:creationId xmlns:a16="http://schemas.microsoft.com/office/drawing/2014/main" id="{B36A1DC7-4A81-4506-8B5E-696FC4FCB817}"/>
              </a:ext>
            </a:extLst>
          </p:cNvPr>
          <p:cNvSpPr>
            <a:spLocks noGrp="1"/>
          </p:cNvSpPr>
          <p:nvPr/>
        </p:nvSpPr>
        <p:spPr>
          <a:xfrm>
            <a:off x="7162800" y="3771900"/>
            <a:ext cx="4171950" cy="323850"/>
          </a:xfrm>
          <a:prstGeom prst="rect">
            <a:avLst/>
          </a:prstGeom>
          <a:noFill/>
          <a:ln w="0">
            <a:noFill/>
          </a:ln>
        </p:spPr>
        <p:txBody>
          <a:bodyPr wrap="square" lIns="28575" tIns="19050" rIns="28575" bIns="19050" anchor="t">
            <a:normAutofit/>
          </a:bodyPr>
          <a:lstStyle/>
          <a:p>
            <a:pPr algn="l">
              <a:lnSpc>
                <a:spcPct val="100000"/>
              </a:lnSpc>
              <a:buNone/>
              <a:defRPr sz="1725" b="1">
                <a:solidFill>
                  <a:srgbClr val="000000"/>
                </a:solidFill>
                <a:latin typeface="Nimbus Sans"/>
                <a:ea typeface="Nimbus Sans"/>
                <a:cs typeface="Nimbus Sans"/>
              </a:defRPr>
            </a:pPr>
            <a:r>
              <a:rPr sz="1725" b="1">
                <a:solidFill>
                  <a:srgbClr val="000000"/>
                </a:solidFill>
                <a:latin typeface="Nimbus Sans"/>
                <a:ea typeface="Nimbus Sans"/>
                <a:cs typeface="Nimbus Sans"/>
              </a:rPr>
              <a:t>Compare formats</a:t>
            </a:r>
          </a:p>
        </p:txBody>
      </p:sp>
      <p:sp>
        <p:nvSpPr>
          <p:cNvPr id="14" name="Rectangle 13">
            <a:extLst>
              <a:ext uri="{FF2B5EF4-FFF2-40B4-BE49-F238E27FC236}">
                <a16:creationId xmlns:a16="http://schemas.microsoft.com/office/drawing/2014/main" id="{006418A4-7F8B-4A21-858E-E33F78F89496}"/>
              </a:ext>
            </a:extLst>
          </p:cNvPr>
          <p:cNvSpPr>
            <a:spLocks noGrp="1"/>
          </p:cNvSpPr>
          <p:nvPr/>
        </p:nvSpPr>
        <p:spPr>
          <a:xfrm>
            <a:off x="7162800" y="4133850"/>
            <a:ext cx="4171950" cy="609600"/>
          </a:xfrm>
          <a:prstGeom prst="rect">
            <a:avLst/>
          </a:prstGeom>
          <a:noFill/>
          <a:ln w="0">
            <a:noFill/>
          </a:ln>
        </p:spPr>
        <p:txBody>
          <a:bodyPr wrap="square" lIns="28575" tIns="19050" rIns="28575" bIns="19050" anchor="t">
            <a:normAutofit/>
          </a:bodyPr>
          <a:lstStyle/>
          <a:p>
            <a:pPr algn="l">
              <a:lnSpc>
                <a:spcPct val="108000"/>
              </a:lnSpc>
              <a:buNone/>
              <a:defRPr sz="1275" b="0">
                <a:solidFill>
                  <a:srgbClr val="3F3F3F"/>
                </a:solidFill>
                <a:latin typeface="Nimbus Sans"/>
                <a:ea typeface="Nimbus Sans"/>
                <a:cs typeface="Nimbus Sans"/>
              </a:defRPr>
            </a:pPr>
            <a:r>
              <a:rPr sz="1275" b="0">
                <a:solidFill>
                  <a:srgbClr val="3F3F3F"/>
                </a:solidFill>
                <a:latin typeface="Nimbus Sans"/>
                <a:ea typeface="Nimbus Sans"/>
                <a:cs typeface="Nimbus Sans"/>
              </a:rPr>
              <a:t>Equivalent FAQ files should produce the same question and answer records despite different layouts.</a:t>
            </a:r>
          </a:p>
        </p:txBody>
      </p:sp>
      <p:sp>
        <p:nvSpPr>
          <p:cNvPr id="15" name="Rectangle 14">
            <a:extLst>
              <a:ext uri="{FF2B5EF4-FFF2-40B4-BE49-F238E27FC236}">
                <a16:creationId xmlns:a16="http://schemas.microsoft.com/office/drawing/2014/main" id="{E3B1E407-1471-464C-9B1C-BDEAE6708E8F}"/>
              </a:ext>
            </a:extLst>
          </p:cNvPr>
          <p:cNvSpPr>
            <a:spLocks noGrp="1"/>
          </p:cNvSpPr>
          <p:nvPr/>
        </p:nvSpPr>
        <p:spPr>
          <a:xfrm>
            <a:off x="11144250" y="6381750"/>
            <a:ext cx="419100" cy="228600"/>
          </a:xfrm>
          <a:prstGeom prst="rect">
            <a:avLst/>
          </a:prstGeom>
          <a:noFill/>
          <a:ln w="0">
            <a:noFill/>
          </a:ln>
        </p:spPr>
        <p:txBody>
          <a:bodyPr wrap="square" lIns="28575" tIns="19050" rIns="28575" bIns="19050" anchor="t">
            <a:normAutofit/>
          </a:bodyPr>
          <a:lstStyle/>
          <a:p>
            <a:pPr algn="r">
              <a:lnSpc>
                <a:spcPct val="100000"/>
              </a:lnSpc>
              <a:buNone/>
              <a:defRPr sz="900" b="0">
                <a:solidFill>
                  <a:srgbClr val="7A879A"/>
                </a:solidFill>
                <a:latin typeface="Nimbus Sans"/>
                <a:ea typeface="Nimbus Sans"/>
                <a:cs typeface="Nimbus Sans"/>
              </a:defRPr>
            </a:pPr>
            <a:r>
              <a:rPr sz="900" b="0">
                <a:solidFill>
                  <a:srgbClr val="7A879A"/>
                </a:solidFill>
                <a:latin typeface="Nimbus Sans"/>
                <a:ea typeface="Nimbus Sans"/>
                <a:cs typeface="Nimbus Sans"/>
              </a:rPr>
              <a:t>04</a:t>
            </a:r>
          </a:p>
        </p:txBody>
      </p:sp>
      <p:sp>
        <p:nvSpPr>
          <p:cNvPr id="18" name="TextBox 17">
            <a:extLst>
              <a:ext uri="{FF2B5EF4-FFF2-40B4-BE49-F238E27FC236}">
                <a16:creationId xmlns:a16="http://schemas.microsoft.com/office/drawing/2014/main" id="{22123B6D-A643-9119-1A73-C68AD28CCAA5}"/>
              </a:ext>
            </a:extLst>
          </p:cNvPr>
          <p:cNvSpPr txBox="1"/>
          <p:nvPr/>
        </p:nvSpPr>
        <p:spPr>
          <a:xfrm>
            <a:off x="4198409" y="482084"/>
            <a:ext cx="1583266" cy="369332"/>
          </a:xfrm>
          <a:prstGeom prst="rect">
            <a:avLst/>
          </a:prstGeom>
          <a:noFill/>
        </p:spPr>
        <p:txBody>
          <a:bodyPr wrap="square" rtlCol="0">
            <a:spAutoFit/>
          </a:bodyPr>
          <a:lstStyle/>
          <a:p>
            <a:r>
              <a:rPr lang="en-US" dirty="0">
                <a:hlinkClick r:id="rId3"/>
              </a:rPr>
              <a:t>LIVE DEMO </a:t>
            </a:r>
            <a:endParaRPr lang="en-US" dirty="0"/>
          </a:p>
        </p:txBody>
      </p:sp>
    </p:spTree>
    <p:extLst>
      <p:ext uri="{BB962C8B-B14F-4D97-AF65-F5344CB8AC3E}">
        <p14:creationId xmlns:p14="http://schemas.microsoft.com/office/powerpoint/2010/main" val="577074995"/>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648997C-06A7-41E6-A3E4-8F441710F1D5}"/>
              </a:ext>
            </a:extLst>
          </p:cNvPr>
          <p:cNvSpPr>
            <a:spLocks noGrp="1"/>
          </p:cNvSpPr>
          <p:nvPr/>
        </p:nvSpPr>
        <p:spPr>
          <a:xfrm>
            <a:off x="685800" y="438150"/>
            <a:ext cx="10191750" cy="552450"/>
          </a:xfrm>
          <a:prstGeom prst="rect">
            <a:avLst/>
          </a:prstGeom>
          <a:noFill/>
          <a:ln w="0">
            <a:noFill/>
          </a:ln>
        </p:spPr>
        <p:txBody>
          <a:bodyPr wrap="square" lIns="28575" tIns="19050" rIns="28575" bIns="19050" anchor="t">
            <a:normAutofit/>
          </a:bodyPr>
          <a:lstStyle/>
          <a:p>
            <a:pPr algn="l">
              <a:lnSpc>
                <a:spcPct val="100000"/>
              </a:lnSpc>
              <a:buNone/>
              <a:defRPr sz="2700" b="1">
                <a:solidFill>
                  <a:srgbClr val="000000"/>
                </a:solidFill>
                <a:latin typeface="Nimbus Sans"/>
                <a:ea typeface="Nimbus Sans"/>
                <a:cs typeface="Nimbus Sans"/>
              </a:defRPr>
            </a:pPr>
            <a:r>
              <a:rPr sz="2700" b="1">
                <a:solidFill>
                  <a:srgbClr val="000000"/>
                </a:solidFill>
                <a:latin typeface="Nimbus Sans"/>
                <a:ea typeface="Nimbus Sans"/>
                <a:cs typeface="Nimbus Sans"/>
              </a:rPr>
              <a:t>Consistent output across formats</a:t>
            </a:r>
          </a:p>
        </p:txBody>
      </p:sp>
      <p:sp>
        <p:nvSpPr>
          <p:cNvPr id="2" name="Rectangle 1">
            <a:extLst>
              <a:ext uri="{FF2B5EF4-FFF2-40B4-BE49-F238E27FC236}">
                <a16:creationId xmlns:a16="http://schemas.microsoft.com/office/drawing/2014/main" id="{118ED862-7E1C-42A0-9B70-A358E509C927}"/>
              </a:ext>
            </a:extLst>
          </p:cNvPr>
          <p:cNvSpPr>
            <a:spLocks noGrp="1"/>
          </p:cNvSpPr>
          <p:nvPr/>
        </p:nvSpPr>
        <p:spPr>
          <a:xfrm>
            <a:off x="704850" y="1009650"/>
            <a:ext cx="10287000" cy="400050"/>
          </a:xfrm>
          <a:prstGeom prst="rect">
            <a:avLst/>
          </a:prstGeom>
          <a:noFill/>
          <a:ln w="0">
            <a:noFill/>
          </a:ln>
        </p:spPr>
        <p:txBody>
          <a:bodyPr wrap="square" lIns="28575" tIns="19050" rIns="28575" bIns="19050" anchor="t">
            <a:normAutofit/>
          </a:bodyPr>
          <a:lstStyle/>
          <a:p>
            <a:pPr algn="l">
              <a:lnSpc>
                <a:spcPct val="100000"/>
              </a:lnSpc>
              <a:buNone/>
              <a:defRPr sz="1425" b="0">
                <a:solidFill>
                  <a:srgbClr val="3F3F3F"/>
                </a:solidFill>
                <a:latin typeface="Nimbus Sans"/>
                <a:ea typeface="Nimbus Sans"/>
                <a:cs typeface="Nimbus Sans"/>
              </a:defRPr>
            </a:pPr>
            <a:r>
              <a:rPr sz="1425" b="0">
                <a:solidFill>
                  <a:srgbClr val="3F3F3F"/>
                </a:solidFill>
                <a:latin typeface="Nimbus Sans"/>
                <a:ea typeface="Nimbus Sans"/>
                <a:cs typeface="Nimbus Sans"/>
              </a:rPr>
              <a:t>Each source keeps its useful context while producing a predictable record structure</a:t>
            </a:r>
          </a:p>
        </p:txBody>
      </p:sp>
      <p:graphicFrame>
        <p:nvGraphicFramePr>
          <p:cNvPr id="8" name="Table 7"/>
          <p:cNvGraphicFramePr/>
          <p:nvPr>
            <p:extLst>
              <p:ext uri="{D42A27DB-BD31-4B8C-83A1-F6EECF244321}">
                <p14:modId xmlns:p14="http://schemas.microsoft.com/office/powerpoint/2010/main" val="124072385"/>
              </p:ext>
            </p:extLst>
          </p:nvPr>
        </p:nvGraphicFramePr>
        <p:xfrm>
          <a:off x="857250" y="1809750"/>
          <a:ext cx="10477500" cy="3429000"/>
        </p:xfrm>
        <a:graphic>
          <a:graphicData uri="http://schemas.openxmlformats.org/drawingml/2006/table">
            <a:tbl>
              <a:tblPr>
                <a:tableStyleId>{C4B1156A-380E-4F78-BDF5-A606A8083BF9}</a:tableStyleId>
              </a:tblPr>
              <a:tblGrid>
                <a:gridCol w="2857500">
                  <a:extLst>
                    <a:ext uri="{9D8B030D-6E8A-4147-A177-3AD203B41FA5}">
                      <a16:colId xmlns:a16="http://schemas.microsoft.com/office/drawing/2014/main" val="20000"/>
                    </a:ext>
                  </a:extLst>
                </a:gridCol>
                <a:gridCol w="3714750">
                  <a:extLst>
                    <a:ext uri="{9D8B030D-6E8A-4147-A177-3AD203B41FA5}">
                      <a16:colId xmlns:a16="http://schemas.microsoft.com/office/drawing/2014/main" val="20001"/>
                    </a:ext>
                  </a:extLst>
                </a:gridCol>
                <a:gridCol w="3905250">
                  <a:extLst>
                    <a:ext uri="{9D8B030D-6E8A-4147-A177-3AD203B41FA5}">
                      <a16:colId xmlns:a16="http://schemas.microsoft.com/office/drawing/2014/main" val="20002"/>
                    </a:ext>
                  </a:extLst>
                </a:gridCol>
              </a:tblGrid>
              <a:tr h="685800">
                <a:tc>
                  <a:txBody>
                    <a:bodyPr/>
                    <a:lstStyle/>
                    <a:p>
                      <a:pPr algn="l"/>
                      <a:r>
                        <a:rPr sz="1350" b="1" dirty="0">
                          <a:solidFill>
                            <a:sysClr val="windowText" lastClr="000000"/>
                          </a:solidFill>
                        </a:rPr>
                        <a:t>Source</a:t>
                      </a:r>
                      <a:endParaRPr sz="1350" b="1" dirty="0">
                        <a:solidFill>
                          <a:sysClr val="windowText" lastClr="000000"/>
                        </a:solidFill>
                        <a:latin typeface="Nimbus Sans"/>
                        <a:ea typeface="Nimbus Sans"/>
                        <a:cs typeface="Nimbus Sans"/>
                      </a:endParaRPr>
                    </a:p>
                  </a:txBody>
                  <a:tcPr anchor="ctr"/>
                </a:tc>
                <a:tc>
                  <a:txBody>
                    <a:bodyPr/>
                    <a:lstStyle/>
                    <a:p>
                      <a:pPr algn="l"/>
                      <a:r>
                        <a:rPr sz="1350" b="1" dirty="0">
                          <a:solidFill>
                            <a:sysClr val="windowText" lastClr="000000"/>
                          </a:solidFill>
                        </a:rPr>
                        <a:t>Method selected</a:t>
                      </a:r>
                      <a:endParaRPr sz="1350" b="1" dirty="0">
                        <a:solidFill>
                          <a:sysClr val="windowText" lastClr="000000"/>
                        </a:solidFill>
                        <a:latin typeface="Nimbus Sans"/>
                        <a:ea typeface="Nimbus Sans"/>
                        <a:cs typeface="Nimbus Sans"/>
                      </a:endParaRPr>
                    </a:p>
                  </a:txBody>
                  <a:tcPr anchor="ctr"/>
                </a:tc>
                <a:tc>
                  <a:txBody>
                    <a:bodyPr/>
                    <a:lstStyle/>
                    <a:p>
                      <a:pPr algn="l"/>
                      <a:r>
                        <a:rPr sz="1350" b="1" dirty="0">
                          <a:solidFill>
                            <a:sysClr val="windowText" lastClr="000000"/>
                          </a:solidFill>
                        </a:rPr>
                        <a:t>Result</a:t>
                      </a:r>
                      <a:endParaRPr sz="1350" b="1" dirty="0">
                        <a:solidFill>
                          <a:sysClr val="windowText" lastClr="000000"/>
                        </a:solidFill>
                        <a:latin typeface="Nimbus Sans"/>
                        <a:ea typeface="Nimbus Sans"/>
                        <a:cs typeface="Nimbus Sans"/>
                      </a:endParaRPr>
                    </a:p>
                  </a:txBody>
                  <a:tcPr anchor="ctr"/>
                </a:tc>
                <a:extLst>
                  <a:ext uri="{0D108BD9-81ED-4DB2-BD59-A6C34878D82A}">
                    <a16:rowId xmlns:a16="http://schemas.microsoft.com/office/drawing/2014/main" val="10000"/>
                  </a:ext>
                </a:extLst>
              </a:tr>
              <a:tr h="685800">
                <a:tc>
                  <a:txBody>
                    <a:bodyPr/>
                    <a:lstStyle/>
                    <a:p>
                      <a:pPr algn="l"/>
                      <a:r>
                        <a:rPr sz="1275" b="1">
                          <a:solidFill>
                            <a:srgbClr val="000000"/>
                          </a:solidFill>
                        </a:rPr>
                        <a:t>FAQ table in Word</a:t>
                      </a:r>
                      <a:endParaRPr sz="1275" b="1">
                        <a:solidFill>
                          <a:srgbClr val="000000"/>
                        </a:solidFill>
                        <a:latin typeface="Nimbus Sans"/>
                        <a:ea typeface="Nimbus Sans"/>
                        <a:cs typeface="Nimbus Sans"/>
                      </a:endParaRPr>
                    </a:p>
                  </a:txBody>
                  <a:tcPr anchor="ctr"/>
                </a:tc>
                <a:tc>
                  <a:txBody>
                    <a:bodyPr/>
                    <a:lstStyle/>
                    <a:p>
                      <a:pPr algn="l"/>
                      <a:r>
                        <a:rPr sz="1275" b="0">
                          <a:solidFill>
                            <a:srgbClr val="3F3F3F"/>
                          </a:solidFill>
                        </a:rPr>
                        <a:t>Native rows and cells</a:t>
                      </a:r>
                      <a:endParaRPr sz="1275" b="0">
                        <a:solidFill>
                          <a:srgbClr val="3F3F3F"/>
                        </a:solidFill>
                        <a:latin typeface="Nimbus Sans"/>
                        <a:ea typeface="Nimbus Sans"/>
                        <a:cs typeface="Nimbus Sans"/>
                      </a:endParaRPr>
                    </a:p>
                  </a:txBody>
                  <a:tcPr anchor="ctr"/>
                </a:tc>
                <a:tc>
                  <a:txBody>
                    <a:bodyPr/>
                    <a:lstStyle/>
                    <a:p>
                      <a:pPr algn="l"/>
                      <a:r>
                        <a:rPr sz="1275" b="0">
                          <a:solidFill>
                            <a:srgbClr val="3F3F3F"/>
                          </a:solidFill>
                        </a:rPr>
                        <a:t>Question and answer records</a:t>
                      </a:r>
                      <a:endParaRPr sz="1275" b="0">
                        <a:solidFill>
                          <a:srgbClr val="3F3F3F"/>
                        </a:solidFill>
                        <a:latin typeface="Nimbus Sans"/>
                        <a:ea typeface="Nimbus Sans"/>
                        <a:cs typeface="Nimbus Sans"/>
                      </a:endParaRPr>
                    </a:p>
                  </a:txBody>
                  <a:tcPr anchor="ctr"/>
                </a:tc>
                <a:extLst>
                  <a:ext uri="{0D108BD9-81ED-4DB2-BD59-A6C34878D82A}">
                    <a16:rowId xmlns:a16="http://schemas.microsoft.com/office/drawing/2014/main" val="10001"/>
                  </a:ext>
                </a:extLst>
              </a:tr>
              <a:tr h="685800">
                <a:tc>
                  <a:txBody>
                    <a:bodyPr/>
                    <a:lstStyle/>
                    <a:p>
                      <a:pPr algn="l"/>
                      <a:r>
                        <a:rPr sz="1275" b="1" dirty="0">
                          <a:solidFill>
                            <a:srgbClr val="000000"/>
                          </a:solidFill>
                        </a:rPr>
                        <a:t>Styled FAQ in Word</a:t>
                      </a:r>
                      <a:endParaRPr sz="1275" b="1" dirty="0">
                        <a:solidFill>
                          <a:srgbClr val="000000"/>
                        </a:solidFill>
                        <a:latin typeface="Nimbus Sans"/>
                        <a:ea typeface="Nimbus Sans"/>
                        <a:cs typeface="Nimbus Sans"/>
                      </a:endParaRPr>
                    </a:p>
                  </a:txBody>
                  <a:tcPr anchor="ctr"/>
                </a:tc>
                <a:tc>
                  <a:txBody>
                    <a:bodyPr/>
                    <a:lstStyle/>
                    <a:p>
                      <a:pPr algn="l"/>
                      <a:r>
                        <a:rPr sz="1275" b="0">
                          <a:solidFill>
                            <a:srgbClr val="3F3F3F"/>
                          </a:solidFill>
                        </a:rPr>
                        <a:t>Formatting and paragraph order</a:t>
                      </a:r>
                      <a:endParaRPr sz="1275" b="0">
                        <a:solidFill>
                          <a:srgbClr val="3F3F3F"/>
                        </a:solidFill>
                        <a:latin typeface="Nimbus Sans"/>
                        <a:ea typeface="Nimbus Sans"/>
                        <a:cs typeface="Nimbus Sans"/>
                      </a:endParaRPr>
                    </a:p>
                  </a:txBody>
                  <a:tcPr anchor="ctr"/>
                </a:tc>
                <a:tc>
                  <a:txBody>
                    <a:bodyPr/>
                    <a:lstStyle/>
                    <a:p>
                      <a:pPr algn="l"/>
                      <a:r>
                        <a:rPr sz="1275" b="0">
                          <a:solidFill>
                            <a:srgbClr val="3F3F3F"/>
                          </a:solidFill>
                        </a:rPr>
                        <a:t>Question and answer records</a:t>
                      </a:r>
                      <a:endParaRPr sz="1275" b="0">
                        <a:solidFill>
                          <a:srgbClr val="3F3F3F"/>
                        </a:solidFill>
                        <a:latin typeface="Nimbus Sans"/>
                        <a:ea typeface="Nimbus Sans"/>
                        <a:cs typeface="Nimbus Sans"/>
                      </a:endParaRPr>
                    </a:p>
                  </a:txBody>
                  <a:tcPr anchor="ctr"/>
                </a:tc>
                <a:extLst>
                  <a:ext uri="{0D108BD9-81ED-4DB2-BD59-A6C34878D82A}">
                    <a16:rowId xmlns:a16="http://schemas.microsoft.com/office/drawing/2014/main" val="10002"/>
                  </a:ext>
                </a:extLst>
              </a:tr>
              <a:tr h="685800">
                <a:tc>
                  <a:txBody>
                    <a:bodyPr/>
                    <a:lstStyle/>
                    <a:p>
                      <a:pPr algn="l"/>
                      <a:r>
                        <a:rPr sz="1275" b="1">
                          <a:solidFill>
                            <a:srgbClr val="000000"/>
                          </a:solidFill>
                        </a:rPr>
                        <a:t>Digital PDF</a:t>
                      </a:r>
                      <a:endParaRPr sz="1275" b="1">
                        <a:solidFill>
                          <a:srgbClr val="000000"/>
                        </a:solidFill>
                        <a:latin typeface="Nimbus Sans"/>
                        <a:ea typeface="Nimbus Sans"/>
                        <a:cs typeface="Nimbus Sans"/>
                      </a:endParaRPr>
                    </a:p>
                  </a:txBody>
                  <a:tcPr anchor="ctr"/>
                </a:tc>
                <a:tc>
                  <a:txBody>
                    <a:bodyPr/>
                    <a:lstStyle/>
                    <a:p>
                      <a:pPr algn="l"/>
                      <a:r>
                        <a:rPr sz="1275" b="0">
                          <a:solidFill>
                            <a:srgbClr val="3F3F3F"/>
                          </a:solidFill>
                        </a:rPr>
                        <a:t>Font and page position</a:t>
                      </a:r>
                      <a:endParaRPr sz="1275" b="0">
                        <a:solidFill>
                          <a:srgbClr val="3F3F3F"/>
                        </a:solidFill>
                        <a:latin typeface="Nimbus Sans"/>
                        <a:ea typeface="Nimbus Sans"/>
                        <a:cs typeface="Nimbus Sans"/>
                      </a:endParaRPr>
                    </a:p>
                  </a:txBody>
                  <a:tcPr anchor="ctr"/>
                </a:tc>
                <a:tc>
                  <a:txBody>
                    <a:bodyPr/>
                    <a:lstStyle/>
                    <a:p>
                      <a:pPr algn="l"/>
                      <a:r>
                        <a:rPr sz="1275" b="0">
                          <a:solidFill>
                            <a:srgbClr val="3F3F3F"/>
                          </a:solidFill>
                        </a:rPr>
                        <a:t>Question and answer records</a:t>
                      </a:r>
                      <a:endParaRPr sz="1275" b="0">
                        <a:solidFill>
                          <a:srgbClr val="3F3F3F"/>
                        </a:solidFill>
                        <a:latin typeface="Nimbus Sans"/>
                        <a:ea typeface="Nimbus Sans"/>
                        <a:cs typeface="Nimbus Sans"/>
                      </a:endParaRPr>
                    </a:p>
                  </a:txBody>
                  <a:tcPr anchor="ctr"/>
                </a:tc>
                <a:extLst>
                  <a:ext uri="{0D108BD9-81ED-4DB2-BD59-A6C34878D82A}">
                    <a16:rowId xmlns:a16="http://schemas.microsoft.com/office/drawing/2014/main" val="10003"/>
                  </a:ext>
                </a:extLst>
              </a:tr>
              <a:tr h="685800">
                <a:tc>
                  <a:txBody>
                    <a:bodyPr/>
                    <a:lstStyle/>
                    <a:p>
                      <a:pPr algn="l"/>
                      <a:r>
                        <a:rPr sz="1275" b="1">
                          <a:solidFill>
                            <a:srgbClr val="000000"/>
                          </a:solidFill>
                        </a:rPr>
                        <a:t>Schedule CSV</a:t>
                      </a:r>
                      <a:endParaRPr sz="1275" b="1">
                        <a:solidFill>
                          <a:srgbClr val="000000"/>
                        </a:solidFill>
                        <a:latin typeface="Nimbus Sans"/>
                        <a:ea typeface="Nimbus Sans"/>
                        <a:cs typeface="Nimbus Sans"/>
                      </a:endParaRPr>
                    </a:p>
                  </a:txBody>
                  <a:tcPr anchor="ctr"/>
                </a:tc>
                <a:tc>
                  <a:txBody>
                    <a:bodyPr/>
                    <a:lstStyle/>
                    <a:p>
                      <a:pPr algn="l"/>
                      <a:r>
                        <a:rPr sz="1275" b="0">
                          <a:solidFill>
                            <a:srgbClr val="3F3F3F"/>
                          </a:solidFill>
                        </a:rPr>
                        <a:t>Header and date validation</a:t>
                      </a:r>
                      <a:endParaRPr sz="1275" b="0">
                        <a:solidFill>
                          <a:srgbClr val="3F3F3F"/>
                        </a:solidFill>
                        <a:latin typeface="Nimbus Sans"/>
                        <a:ea typeface="Nimbus Sans"/>
                        <a:cs typeface="Nimbus Sans"/>
                      </a:endParaRPr>
                    </a:p>
                  </a:txBody>
                  <a:tcPr anchor="ctr"/>
                </a:tc>
                <a:tc>
                  <a:txBody>
                    <a:bodyPr/>
                    <a:lstStyle/>
                    <a:p>
                      <a:pPr algn="l"/>
                      <a:r>
                        <a:rPr sz="1275" b="0" dirty="0">
                          <a:solidFill>
                            <a:srgbClr val="3F3F3F"/>
                          </a:solidFill>
                        </a:rPr>
                        <a:t>Typed schedule records</a:t>
                      </a:r>
                      <a:endParaRPr sz="1275" b="0" dirty="0">
                        <a:solidFill>
                          <a:srgbClr val="3F3F3F"/>
                        </a:solidFill>
                        <a:latin typeface="Nimbus Sans"/>
                        <a:ea typeface="Nimbus Sans"/>
                        <a:cs typeface="Nimbus Sans"/>
                      </a:endParaRPr>
                    </a:p>
                  </a:txBody>
                  <a:tcPr anchor="ctr"/>
                </a:tc>
                <a:extLst>
                  <a:ext uri="{0D108BD9-81ED-4DB2-BD59-A6C34878D82A}">
                    <a16:rowId xmlns:a16="http://schemas.microsoft.com/office/drawing/2014/main" val="10004"/>
                  </a:ext>
                </a:extLst>
              </a:tr>
            </a:tbl>
          </a:graphicData>
        </a:graphic>
      </p:graphicFrame>
      <p:sp>
        <p:nvSpPr>
          <p:cNvPr id="4" name="Rectangle 3">
            <a:extLst>
              <a:ext uri="{FF2B5EF4-FFF2-40B4-BE49-F238E27FC236}">
                <a16:creationId xmlns:a16="http://schemas.microsoft.com/office/drawing/2014/main" id="{89DF3CD4-A7A4-428A-ACB6-574547E6901A}"/>
              </a:ext>
            </a:extLst>
          </p:cNvPr>
          <p:cNvSpPr>
            <a:spLocks noGrp="1"/>
          </p:cNvSpPr>
          <p:nvPr/>
        </p:nvSpPr>
        <p:spPr>
          <a:xfrm>
            <a:off x="1714500" y="5562600"/>
            <a:ext cx="8763000" cy="419100"/>
          </a:xfrm>
          <a:prstGeom prst="rect">
            <a:avLst/>
          </a:prstGeom>
          <a:noFill/>
          <a:ln w="0">
            <a:noFill/>
          </a:ln>
        </p:spPr>
        <p:txBody>
          <a:bodyPr wrap="square" lIns="28575" tIns="19050" rIns="28575" bIns="19050" anchor="t">
            <a:normAutofit/>
          </a:bodyPr>
          <a:lstStyle/>
          <a:p>
            <a:pPr algn="ctr">
              <a:lnSpc>
                <a:spcPct val="100000"/>
              </a:lnSpc>
              <a:buNone/>
              <a:defRPr sz="1650" b="1">
                <a:solidFill>
                  <a:srgbClr val="000000"/>
                </a:solidFill>
                <a:latin typeface="Nimbus Sans"/>
                <a:ea typeface="Nimbus Sans"/>
                <a:cs typeface="Nimbus Sans"/>
              </a:defRPr>
            </a:pPr>
            <a:r>
              <a:rPr sz="1650" b="1">
                <a:solidFill>
                  <a:srgbClr val="000000"/>
                </a:solidFill>
                <a:latin typeface="Nimbus Sans"/>
                <a:ea typeface="Nimbus Sans"/>
                <a:cs typeface="Nimbus Sans"/>
              </a:rPr>
              <a:t>The normalized record becomes the stable handoff for later systems.</a:t>
            </a:r>
          </a:p>
        </p:txBody>
      </p:sp>
      <p:sp>
        <p:nvSpPr>
          <p:cNvPr id="5" name="Rectangle 4">
            <a:extLst>
              <a:ext uri="{FF2B5EF4-FFF2-40B4-BE49-F238E27FC236}">
                <a16:creationId xmlns:a16="http://schemas.microsoft.com/office/drawing/2014/main" id="{F6851651-BF54-4952-9F82-B6557F54D908}"/>
              </a:ext>
            </a:extLst>
          </p:cNvPr>
          <p:cNvSpPr>
            <a:spLocks noGrp="1"/>
          </p:cNvSpPr>
          <p:nvPr/>
        </p:nvSpPr>
        <p:spPr>
          <a:xfrm>
            <a:off x="11144250" y="6381750"/>
            <a:ext cx="419100" cy="228600"/>
          </a:xfrm>
          <a:prstGeom prst="rect">
            <a:avLst/>
          </a:prstGeom>
          <a:noFill/>
          <a:ln w="0">
            <a:noFill/>
          </a:ln>
        </p:spPr>
        <p:txBody>
          <a:bodyPr wrap="square" lIns="28575" tIns="19050" rIns="28575" bIns="19050" anchor="t">
            <a:normAutofit/>
          </a:bodyPr>
          <a:lstStyle/>
          <a:p>
            <a:pPr algn="r">
              <a:lnSpc>
                <a:spcPct val="100000"/>
              </a:lnSpc>
              <a:buNone/>
              <a:defRPr sz="900" b="0">
                <a:solidFill>
                  <a:srgbClr val="7A879A"/>
                </a:solidFill>
                <a:latin typeface="Nimbus Sans"/>
                <a:ea typeface="Nimbus Sans"/>
                <a:cs typeface="Nimbus Sans"/>
              </a:defRPr>
            </a:pPr>
            <a:r>
              <a:rPr sz="900" b="0">
                <a:solidFill>
                  <a:srgbClr val="7A879A"/>
                </a:solidFill>
                <a:latin typeface="Nimbus Sans"/>
                <a:ea typeface="Nimbus Sans"/>
                <a:cs typeface="Nimbus Sans"/>
              </a:rPr>
              <a:t>05</a:t>
            </a:r>
          </a:p>
        </p:txBody>
      </p:sp>
    </p:spTree>
    <p:extLst>
      <p:ext uri="{BB962C8B-B14F-4D97-AF65-F5344CB8AC3E}">
        <p14:creationId xmlns:p14="http://schemas.microsoft.com/office/powerpoint/2010/main" val="14343515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C3B11C05-6E57-4BEB-94B2-BFFF94280E9D}"/>
              </a:ext>
            </a:extLst>
          </p:cNvPr>
          <p:cNvSpPr>
            <a:spLocks noGrp="1"/>
          </p:cNvSpPr>
          <p:nvPr/>
        </p:nvSpPr>
        <p:spPr>
          <a:xfrm>
            <a:off x="685800" y="438150"/>
            <a:ext cx="10191750" cy="552450"/>
          </a:xfrm>
          <a:prstGeom prst="rect">
            <a:avLst/>
          </a:prstGeom>
          <a:noFill/>
          <a:ln w="0">
            <a:noFill/>
          </a:ln>
        </p:spPr>
        <p:txBody>
          <a:bodyPr wrap="square" lIns="28575" tIns="19050" rIns="28575" bIns="19050" anchor="t">
            <a:normAutofit/>
          </a:bodyPr>
          <a:lstStyle/>
          <a:p>
            <a:pPr algn="l">
              <a:lnSpc>
                <a:spcPct val="100000"/>
              </a:lnSpc>
              <a:buNone/>
              <a:defRPr sz="2700" b="1">
                <a:solidFill>
                  <a:srgbClr val="000000"/>
                </a:solidFill>
                <a:latin typeface="Nimbus Sans"/>
                <a:ea typeface="Nimbus Sans"/>
                <a:cs typeface="Nimbus Sans"/>
              </a:defRPr>
            </a:pPr>
            <a:r>
              <a:rPr sz="2700" b="1">
                <a:solidFill>
                  <a:srgbClr val="000000"/>
                </a:solidFill>
                <a:latin typeface="Nimbus Sans"/>
                <a:ea typeface="Nimbus Sans"/>
                <a:cs typeface="Nimbus Sans"/>
              </a:rPr>
              <a:t>What stakeholders can verify</a:t>
            </a:r>
          </a:p>
        </p:txBody>
      </p:sp>
      <p:sp>
        <p:nvSpPr>
          <p:cNvPr id="2" name="Rectangle 1">
            <a:extLst>
              <a:ext uri="{FF2B5EF4-FFF2-40B4-BE49-F238E27FC236}">
                <a16:creationId xmlns:a16="http://schemas.microsoft.com/office/drawing/2014/main" id="{A06E5BE8-726B-48A9-886F-AD87796F1675}"/>
              </a:ext>
            </a:extLst>
          </p:cNvPr>
          <p:cNvSpPr>
            <a:spLocks noGrp="1"/>
          </p:cNvSpPr>
          <p:nvPr/>
        </p:nvSpPr>
        <p:spPr>
          <a:xfrm>
            <a:off x="704850" y="1009650"/>
            <a:ext cx="10287000" cy="400050"/>
          </a:xfrm>
          <a:prstGeom prst="rect">
            <a:avLst/>
          </a:prstGeom>
          <a:noFill/>
          <a:ln w="0">
            <a:noFill/>
          </a:ln>
        </p:spPr>
        <p:txBody>
          <a:bodyPr wrap="square" lIns="28575" tIns="19050" rIns="28575" bIns="19050" anchor="t">
            <a:normAutofit/>
          </a:bodyPr>
          <a:lstStyle/>
          <a:p>
            <a:pPr algn="l">
              <a:lnSpc>
                <a:spcPct val="100000"/>
              </a:lnSpc>
              <a:buNone/>
              <a:defRPr sz="1425" b="0">
                <a:solidFill>
                  <a:srgbClr val="3F3F3F"/>
                </a:solidFill>
                <a:latin typeface="Nimbus Sans"/>
                <a:ea typeface="Nimbus Sans"/>
                <a:cs typeface="Nimbus Sans"/>
              </a:defRPr>
            </a:pPr>
            <a:r>
              <a:rPr sz="1425" b="0">
                <a:solidFill>
                  <a:srgbClr val="3F3F3F"/>
                </a:solidFill>
                <a:latin typeface="Nimbus Sans"/>
                <a:ea typeface="Nimbus Sans"/>
                <a:cs typeface="Nimbus Sans"/>
              </a:rPr>
              <a:t>The response makes the parser decision and extracted content visible</a:t>
            </a:r>
          </a:p>
        </p:txBody>
      </p:sp>
      <p:sp>
        <p:nvSpPr>
          <p:cNvPr id="3" name="Rectangle: Rounded Corners 2">
            <a:extLst>
              <a:ext uri="{FF2B5EF4-FFF2-40B4-BE49-F238E27FC236}">
                <a16:creationId xmlns:a16="http://schemas.microsoft.com/office/drawing/2014/main" id="{ADFF99F1-D071-4CD4-A305-08A081CB8499}"/>
              </a:ext>
            </a:extLst>
          </p:cNvPr>
          <p:cNvSpPr>
            <a:spLocks noGrp="1"/>
          </p:cNvSpPr>
          <p:nvPr/>
        </p:nvSpPr>
        <p:spPr>
          <a:xfrm>
            <a:off x="590550" y="1752600"/>
            <a:ext cx="5334000" cy="3886200"/>
          </a:xfrm>
          <a:prstGeom prst="roundRect">
            <a:avLst>
              <a:gd name="adj" fmla="val 1961"/>
            </a:avLst>
          </a:prstGeom>
          <a:ln/>
        </p:spPr>
        <p:style>
          <a:lnRef idx="1">
            <a:schemeClr val="accent4"/>
          </a:lnRef>
          <a:fillRef idx="2">
            <a:schemeClr val="accent4"/>
          </a:fillRef>
          <a:effectRef idx="1">
            <a:schemeClr val="accent4"/>
          </a:effectRef>
          <a:fontRef idx="minor">
            <a:schemeClr val="dk1"/>
          </a:fontRef>
        </p:style>
        <p:txBody>
          <a:bodyPr lIns="190500" tIns="190500" rIns="190500" bIns="190500" anchor="t">
            <a:normAutofit/>
          </a:bodyPr>
          <a:lstStyle/>
          <a:p>
            <a:pPr>
              <a:lnSpc>
                <a:spcPct val="100000"/>
              </a:lnSpc>
              <a:buNone/>
              <a:defRPr sz="1200">
                <a:solidFill>
                  <a:srgbClr val="DCE7F7"/>
                </a:solidFill>
                <a:latin typeface="Nimbus Mono PS"/>
                <a:ea typeface="Nimbus Mono PS"/>
                <a:cs typeface="Nimbus Mono PS"/>
              </a:defRPr>
            </a:pPr>
            <a:r>
              <a:rPr sz="1400" dirty="0">
                <a:ln w="0"/>
                <a:solidFill>
                  <a:schemeClr val="bg1"/>
                </a:solidFill>
                <a:effectLst>
                  <a:outerShdw blurRad="38100" dist="19050" dir="2700000" algn="tl" rotWithShape="0">
                    <a:schemeClr val="dk1">
                      <a:alpha val="40000"/>
                    </a:schemeClr>
                  </a:outerShdw>
                </a:effectLst>
                <a:latin typeface="Nimbus Mono PS"/>
                <a:ea typeface="Nimbus Mono PS"/>
                <a:cs typeface="Nimbus Mono PS"/>
              </a:rPr>
              <a:t>{</a:t>
            </a:r>
          </a:p>
          <a:p>
            <a:pPr>
              <a:lnSpc>
                <a:spcPct val="100000"/>
              </a:lnSpc>
              <a:buNone/>
              <a:defRPr sz="1200">
                <a:solidFill>
                  <a:srgbClr val="DCE7F7"/>
                </a:solidFill>
                <a:latin typeface="Nimbus Mono PS"/>
                <a:ea typeface="Nimbus Mono PS"/>
                <a:cs typeface="Nimbus Mono PS"/>
              </a:defRPr>
            </a:pPr>
            <a:r>
              <a:rPr sz="1600" dirty="0">
                <a:ln w="0"/>
                <a:solidFill>
                  <a:schemeClr val="bg1"/>
                </a:solidFill>
                <a:effectLst>
                  <a:outerShdw blurRad="38100" dist="19050" dir="2700000" algn="tl" rotWithShape="0">
                    <a:schemeClr val="dk1">
                      <a:alpha val="40000"/>
                    </a:schemeClr>
                  </a:outerShdw>
                </a:effectLst>
                <a:latin typeface="Nimbus Mono PS"/>
                <a:ea typeface="Nimbus Mono PS"/>
                <a:cs typeface="Nimbus Mono PS"/>
              </a:rPr>
              <a:t>  "</a:t>
            </a:r>
            <a:r>
              <a:rPr sz="1600" dirty="0" err="1">
                <a:ln w="0"/>
                <a:solidFill>
                  <a:schemeClr val="bg1"/>
                </a:solidFill>
                <a:effectLst>
                  <a:outerShdw blurRad="38100" dist="19050" dir="2700000" algn="tl" rotWithShape="0">
                    <a:schemeClr val="dk1">
                      <a:alpha val="40000"/>
                    </a:schemeClr>
                  </a:outerShdw>
                </a:effectLst>
                <a:latin typeface="Nimbus Mono PS"/>
                <a:ea typeface="Nimbus Mono PS"/>
                <a:cs typeface="Nimbus Mono PS"/>
              </a:rPr>
              <a:t>document_type</a:t>
            </a:r>
            <a:r>
              <a:rPr sz="1600" dirty="0">
                <a:ln w="0"/>
                <a:solidFill>
                  <a:schemeClr val="bg1"/>
                </a:solidFill>
                <a:effectLst>
                  <a:outerShdw blurRad="38100" dist="19050" dir="2700000" algn="tl" rotWithShape="0">
                    <a:schemeClr val="dk1">
                      <a:alpha val="40000"/>
                    </a:schemeClr>
                  </a:outerShdw>
                </a:effectLst>
                <a:latin typeface="Nimbus Mono PS"/>
                <a:ea typeface="Nimbus Mono PS"/>
                <a:cs typeface="Nimbus Mono PS"/>
              </a:rPr>
              <a:t>": "</a:t>
            </a:r>
            <a:r>
              <a:rPr sz="1600" dirty="0" err="1">
                <a:ln w="0"/>
                <a:solidFill>
                  <a:schemeClr val="bg1"/>
                </a:solidFill>
                <a:effectLst>
                  <a:outerShdw blurRad="38100" dist="19050" dir="2700000" algn="tl" rotWithShape="0">
                    <a:schemeClr val="dk1">
                      <a:alpha val="40000"/>
                    </a:schemeClr>
                  </a:outerShdw>
                </a:effectLst>
                <a:latin typeface="Nimbus Mono PS"/>
                <a:ea typeface="Nimbus Mono PS"/>
                <a:cs typeface="Nimbus Mono PS"/>
              </a:rPr>
              <a:t>docx_faq</a:t>
            </a:r>
            <a:r>
              <a:rPr sz="1600" dirty="0">
                <a:ln w="0"/>
                <a:solidFill>
                  <a:schemeClr val="bg1"/>
                </a:solidFill>
                <a:effectLst>
                  <a:outerShdw blurRad="38100" dist="19050" dir="2700000" algn="tl" rotWithShape="0">
                    <a:schemeClr val="dk1">
                      <a:alpha val="40000"/>
                    </a:schemeClr>
                  </a:outerShdw>
                </a:effectLst>
                <a:latin typeface="Nimbus Mono PS"/>
                <a:ea typeface="Nimbus Mono PS"/>
                <a:cs typeface="Nimbus Mono PS"/>
              </a:rPr>
              <a:t>",</a:t>
            </a:r>
          </a:p>
          <a:p>
            <a:pPr>
              <a:lnSpc>
                <a:spcPct val="100000"/>
              </a:lnSpc>
              <a:buNone/>
              <a:defRPr sz="1200">
                <a:solidFill>
                  <a:srgbClr val="DCE7F7"/>
                </a:solidFill>
                <a:latin typeface="Nimbus Mono PS"/>
                <a:ea typeface="Nimbus Mono PS"/>
                <a:cs typeface="Nimbus Mono PS"/>
              </a:defRPr>
            </a:pPr>
            <a:r>
              <a:rPr sz="1600" dirty="0">
                <a:ln w="0"/>
                <a:solidFill>
                  <a:schemeClr val="bg1"/>
                </a:solidFill>
                <a:effectLst>
                  <a:outerShdw blurRad="38100" dist="19050" dir="2700000" algn="tl" rotWithShape="0">
                    <a:schemeClr val="dk1">
                      <a:alpha val="40000"/>
                    </a:schemeClr>
                  </a:outerShdw>
                </a:effectLst>
                <a:latin typeface="Nimbus Mono PS"/>
                <a:ea typeface="Nimbus Mono PS"/>
                <a:cs typeface="Nimbus Mono PS"/>
              </a:rPr>
              <a:t>  "</a:t>
            </a:r>
            <a:r>
              <a:rPr sz="1600" dirty="0" err="1">
                <a:ln w="0"/>
                <a:solidFill>
                  <a:schemeClr val="bg1"/>
                </a:solidFill>
                <a:effectLst>
                  <a:outerShdw blurRad="38100" dist="19050" dir="2700000" algn="tl" rotWithShape="0">
                    <a:schemeClr val="dk1">
                      <a:alpha val="40000"/>
                    </a:schemeClr>
                  </a:outerShdw>
                </a:effectLst>
                <a:latin typeface="Nimbus Mono PS"/>
                <a:ea typeface="Nimbus Mono PS"/>
                <a:cs typeface="Nimbus Mono PS"/>
              </a:rPr>
              <a:t>strategy_used</a:t>
            </a:r>
            <a:r>
              <a:rPr sz="1600" dirty="0">
                <a:ln w="0"/>
                <a:solidFill>
                  <a:schemeClr val="bg1"/>
                </a:solidFill>
                <a:effectLst>
                  <a:outerShdw blurRad="38100" dist="19050" dir="2700000" algn="tl" rotWithShape="0">
                    <a:schemeClr val="dk1">
                      <a:alpha val="40000"/>
                    </a:schemeClr>
                  </a:outerShdw>
                </a:effectLst>
                <a:latin typeface="Nimbus Mono PS"/>
                <a:ea typeface="Nimbus Mono PS"/>
                <a:cs typeface="Nimbus Mono PS"/>
              </a:rPr>
              <a:t>": "</a:t>
            </a:r>
            <a:r>
              <a:rPr sz="1600" dirty="0" err="1">
                <a:ln w="0"/>
                <a:solidFill>
                  <a:schemeClr val="bg1"/>
                </a:solidFill>
                <a:effectLst>
                  <a:outerShdw blurRad="38100" dist="19050" dir="2700000" algn="tl" rotWithShape="0">
                    <a:schemeClr val="dk1">
                      <a:alpha val="40000"/>
                    </a:schemeClr>
                  </a:outerShdw>
                </a:effectLst>
                <a:latin typeface="Nimbus Mono PS"/>
                <a:ea typeface="Nimbus Mono PS"/>
                <a:cs typeface="Nimbus Mono PS"/>
              </a:rPr>
              <a:t>native_docx_table</a:t>
            </a:r>
            <a:r>
              <a:rPr sz="1600" dirty="0">
                <a:ln w="0"/>
                <a:solidFill>
                  <a:schemeClr val="bg1"/>
                </a:solidFill>
                <a:effectLst>
                  <a:outerShdw blurRad="38100" dist="19050" dir="2700000" algn="tl" rotWithShape="0">
                    <a:schemeClr val="dk1">
                      <a:alpha val="40000"/>
                    </a:schemeClr>
                  </a:outerShdw>
                </a:effectLst>
                <a:latin typeface="Nimbus Mono PS"/>
                <a:ea typeface="Nimbus Mono PS"/>
                <a:cs typeface="Nimbus Mono PS"/>
              </a:rPr>
              <a:t>",</a:t>
            </a:r>
          </a:p>
          <a:p>
            <a:pPr>
              <a:lnSpc>
                <a:spcPct val="100000"/>
              </a:lnSpc>
              <a:buNone/>
              <a:defRPr sz="1200">
                <a:solidFill>
                  <a:srgbClr val="DCE7F7"/>
                </a:solidFill>
                <a:latin typeface="Nimbus Mono PS"/>
                <a:ea typeface="Nimbus Mono PS"/>
                <a:cs typeface="Nimbus Mono PS"/>
              </a:defRPr>
            </a:pPr>
            <a:r>
              <a:rPr sz="1600" dirty="0">
                <a:ln w="0"/>
                <a:solidFill>
                  <a:schemeClr val="bg1"/>
                </a:solidFill>
                <a:effectLst>
                  <a:outerShdw blurRad="38100" dist="19050" dir="2700000" algn="tl" rotWithShape="0">
                    <a:schemeClr val="dk1">
                      <a:alpha val="40000"/>
                    </a:schemeClr>
                  </a:outerShdw>
                </a:effectLst>
                <a:latin typeface="Nimbus Mono PS"/>
                <a:ea typeface="Nimbus Mono PS"/>
                <a:cs typeface="Nimbus Mono PS"/>
              </a:rPr>
              <a:t>  "</a:t>
            </a:r>
            <a:r>
              <a:rPr sz="1600" dirty="0" err="1">
                <a:ln w="0"/>
                <a:solidFill>
                  <a:schemeClr val="bg1"/>
                </a:solidFill>
                <a:effectLst>
                  <a:outerShdw blurRad="38100" dist="19050" dir="2700000" algn="tl" rotWithShape="0">
                    <a:schemeClr val="dk1">
                      <a:alpha val="40000"/>
                    </a:schemeClr>
                  </a:outerShdw>
                </a:effectLst>
                <a:latin typeface="Nimbus Mono PS"/>
                <a:ea typeface="Nimbus Mono PS"/>
                <a:cs typeface="Nimbus Mono PS"/>
              </a:rPr>
              <a:t>record_count</a:t>
            </a:r>
            <a:r>
              <a:rPr sz="1600" dirty="0">
                <a:ln w="0"/>
                <a:solidFill>
                  <a:schemeClr val="bg1"/>
                </a:solidFill>
                <a:effectLst>
                  <a:outerShdw blurRad="38100" dist="19050" dir="2700000" algn="tl" rotWithShape="0">
                    <a:schemeClr val="dk1">
                      <a:alpha val="40000"/>
                    </a:schemeClr>
                  </a:outerShdw>
                </a:effectLst>
                <a:latin typeface="Nimbus Mono PS"/>
                <a:ea typeface="Nimbus Mono PS"/>
                <a:cs typeface="Nimbus Mono PS"/>
              </a:rPr>
              <a:t>": 31,</a:t>
            </a:r>
          </a:p>
          <a:p>
            <a:pPr>
              <a:lnSpc>
                <a:spcPct val="100000"/>
              </a:lnSpc>
              <a:buNone/>
              <a:defRPr sz="1200">
                <a:solidFill>
                  <a:srgbClr val="DCE7F7"/>
                </a:solidFill>
                <a:latin typeface="Nimbus Mono PS"/>
                <a:ea typeface="Nimbus Mono PS"/>
                <a:cs typeface="Nimbus Mono PS"/>
              </a:defRPr>
            </a:pPr>
            <a:r>
              <a:rPr sz="1600" dirty="0">
                <a:ln w="0"/>
                <a:solidFill>
                  <a:schemeClr val="bg1"/>
                </a:solidFill>
                <a:effectLst>
                  <a:outerShdw blurRad="38100" dist="19050" dir="2700000" algn="tl" rotWithShape="0">
                    <a:schemeClr val="dk1">
                      <a:alpha val="40000"/>
                    </a:schemeClr>
                  </a:outerShdw>
                </a:effectLst>
                <a:latin typeface="Nimbus Mono PS"/>
                <a:ea typeface="Nimbus Mono PS"/>
                <a:cs typeface="Nimbus Mono PS"/>
              </a:rPr>
              <a:t>  "records": [</a:t>
            </a:r>
          </a:p>
          <a:p>
            <a:pPr>
              <a:lnSpc>
                <a:spcPct val="100000"/>
              </a:lnSpc>
              <a:buNone/>
              <a:defRPr sz="1200">
                <a:solidFill>
                  <a:srgbClr val="DCE7F7"/>
                </a:solidFill>
                <a:latin typeface="Nimbus Mono PS"/>
                <a:ea typeface="Nimbus Mono PS"/>
                <a:cs typeface="Nimbus Mono PS"/>
              </a:defRPr>
            </a:pPr>
            <a:r>
              <a:rPr sz="1600" dirty="0">
                <a:ln w="0"/>
                <a:solidFill>
                  <a:schemeClr val="bg1"/>
                </a:solidFill>
                <a:effectLst>
                  <a:outerShdw blurRad="38100" dist="19050" dir="2700000" algn="tl" rotWithShape="0">
                    <a:schemeClr val="dk1">
                      <a:alpha val="40000"/>
                    </a:schemeClr>
                  </a:outerShdw>
                </a:effectLst>
                <a:latin typeface="Nimbus Mono PS"/>
                <a:ea typeface="Nimbus Mono PS"/>
                <a:cs typeface="Nimbus Mono PS"/>
              </a:rPr>
              <a:t>    {</a:t>
            </a:r>
          </a:p>
          <a:p>
            <a:pPr>
              <a:lnSpc>
                <a:spcPct val="100000"/>
              </a:lnSpc>
              <a:buNone/>
              <a:defRPr sz="1200">
                <a:solidFill>
                  <a:srgbClr val="DCE7F7"/>
                </a:solidFill>
                <a:latin typeface="Nimbus Mono PS"/>
                <a:ea typeface="Nimbus Mono PS"/>
                <a:cs typeface="Nimbus Mono PS"/>
              </a:defRPr>
            </a:pPr>
            <a:r>
              <a:rPr sz="1600" dirty="0">
                <a:ln w="0"/>
                <a:solidFill>
                  <a:schemeClr val="bg1"/>
                </a:solidFill>
                <a:effectLst>
                  <a:outerShdw blurRad="38100" dist="19050" dir="2700000" algn="tl" rotWithShape="0">
                    <a:schemeClr val="dk1">
                      <a:alpha val="40000"/>
                    </a:schemeClr>
                  </a:outerShdw>
                </a:effectLst>
                <a:latin typeface="Nimbus Mono PS"/>
                <a:ea typeface="Nimbus Mono PS"/>
                <a:cs typeface="Nimbus Mono PS"/>
              </a:rPr>
              <a:t>      "question": "Who should I contact?",</a:t>
            </a:r>
          </a:p>
          <a:p>
            <a:pPr>
              <a:lnSpc>
                <a:spcPct val="100000"/>
              </a:lnSpc>
              <a:buNone/>
              <a:defRPr sz="1200">
                <a:solidFill>
                  <a:srgbClr val="DCE7F7"/>
                </a:solidFill>
                <a:latin typeface="Nimbus Mono PS"/>
                <a:ea typeface="Nimbus Mono PS"/>
                <a:cs typeface="Nimbus Mono PS"/>
              </a:defRPr>
            </a:pPr>
            <a:r>
              <a:rPr sz="1600" dirty="0">
                <a:ln w="0"/>
                <a:solidFill>
                  <a:schemeClr val="bg1"/>
                </a:solidFill>
                <a:effectLst>
                  <a:outerShdw blurRad="38100" dist="19050" dir="2700000" algn="tl" rotWithShape="0">
                    <a:schemeClr val="dk1">
                      <a:alpha val="40000"/>
                    </a:schemeClr>
                  </a:outerShdw>
                </a:effectLst>
                <a:latin typeface="Nimbus Mono PS"/>
                <a:ea typeface="Nimbus Mono PS"/>
                <a:cs typeface="Nimbus Mono PS"/>
              </a:rPr>
              <a:t>      "answer": "Contact the support team...",</a:t>
            </a:r>
          </a:p>
          <a:p>
            <a:pPr>
              <a:lnSpc>
                <a:spcPct val="100000"/>
              </a:lnSpc>
              <a:buNone/>
              <a:defRPr sz="1200">
                <a:solidFill>
                  <a:srgbClr val="DCE7F7"/>
                </a:solidFill>
                <a:latin typeface="Nimbus Mono PS"/>
                <a:ea typeface="Nimbus Mono PS"/>
                <a:cs typeface="Nimbus Mono PS"/>
              </a:defRPr>
            </a:pPr>
            <a:r>
              <a:rPr sz="1600" dirty="0">
                <a:ln w="0"/>
                <a:solidFill>
                  <a:schemeClr val="bg1"/>
                </a:solidFill>
                <a:effectLst>
                  <a:outerShdw blurRad="38100" dist="19050" dir="2700000" algn="tl" rotWithShape="0">
                    <a:schemeClr val="dk1">
                      <a:alpha val="40000"/>
                    </a:schemeClr>
                  </a:outerShdw>
                </a:effectLst>
                <a:latin typeface="Nimbus Mono PS"/>
                <a:ea typeface="Nimbus Mono PS"/>
                <a:cs typeface="Nimbus Mono PS"/>
              </a:rPr>
              <a:t>      "</a:t>
            </a:r>
            <a:r>
              <a:rPr sz="1600" dirty="0" err="1">
                <a:ln w="0"/>
                <a:solidFill>
                  <a:schemeClr val="bg1"/>
                </a:solidFill>
                <a:effectLst>
                  <a:outerShdw blurRad="38100" dist="19050" dir="2700000" algn="tl" rotWithShape="0">
                    <a:schemeClr val="dk1">
                      <a:alpha val="40000"/>
                    </a:schemeClr>
                  </a:outerShdw>
                </a:effectLst>
                <a:latin typeface="Nimbus Mono PS"/>
                <a:ea typeface="Nimbus Mono PS"/>
                <a:cs typeface="Nimbus Mono PS"/>
              </a:rPr>
              <a:t>source_location</a:t>
            </a:r>
            <a:r>
              <a:rPr sz="1600" dirty="0">
                <a:ln w="0"/>
                <a:solidFill>
                  <a:schemeClr val="bg1"/>
                </a:solidFill>
                <a:effectLst>
                  <a:outerShdw blurRad="38100" dist="19050" dir="2700000" algn="tl" rotWithShape="0">
                    <a:schemeClr val="dk1">
                      <a:alpha val="40000"/>
                    </a:schemeClr>
                  </a:outerShdw>
                </a:effectLst>
                <a:latin typeface="Nimbus Mono PS"/>
                <a:ea typeface="Nimbus Mono PS"/>
                <a:cs typeface="Nimbus Mono PS"/>
              </a:rPr>
              <a:t>": "table 1, row 3"</a:t>
            </a:r>
          </a:p>
          <a:p>
            <a:pPr>
              <a:lnSpc>
                <a:spcPct val="100000"/>
              </a:lnSpc>
              <a:buNone/>
              <a:defRPr sz="1200">
                <a:solidFill>
                  <a:srgbClr val="DCE7F7"/>
                </a:solidFill>
                <a:latin typeface="Nimbus Mono PS"/>
                <a:ea typeface="Nimbus Mono PS"/>
                <a:cs typeface="Nimbus Mono PS"/>
              </a:defRPr>
            </a:pPr>
            <a:r>
              <a:rPr sz="1600" dirty="0">
                <a:ln w="0"/>
                <a:solidFill>
                  <a:schemeClr val="bg1"/>
                </a:solidFill>
                <a:effectLst>
                  <a:outerShdw blurRad="38100" dist="19050" dir="2700000" algn="tl" rotWithShape="0">
                    <a:schemeClr val="dk1">
                      <a:alpha val="40000"/>
                    </a:schemeClr>
                  </a:outerShdw>
                </a:effectLst>
                <a:latin typeface="Nimbus Mono PS"/>
                <a:ea typeface="Nimbus Mono PS"/>
                <a:cs typeface="Nimbus Mono PS"/>
              </a:rPr>
              <a:t>    }</a:t>
            </a:r>
          </a:p>
          <a:p>
            <a:pPr>
              <a:lnSpc>
                <a:spcPct val="100000"/>
              </a:lnSpc>
              <a:buNone/>
              <a:defRPr sz="1200">
                <a:solidFill>
                  <a:srgbClr val="DCE7F7"/>
                </a:solidFill>
                <a:latin typeface="Nimbus Mono PS"/>
                <a:ea typeface="Nimbus Mono PS"/>
                <a:cs typeface="Nimbus Mono PS"/>
              </a:defRPr>
            </a:pPr>
            <a:r>
              <a:rPr sz="1600" dirty="0">
                <a:ln w="0"/>
                <a:solidFill>
                  <a:schemeClr val="bg1"/>
                </a:solidFill>
                <a:effectLst>
                  <a:outerShdw blurRad="38100" dist="19050" dir="2700000" algn="tl" rotWithShape="0">
                    <a:schemeClr val="dk1">
                      <a:alpha val="40000"/>
                    </a:schemeClr>
                  </a:outerShdw>
                </a:effectLst>
                <a:latin typeface="Nimbus Mono PS"/>
                <a:ea typeface="Nimbus Mono PS"/>
                <a:cs typeface="Nimbus Mono PS"/>
              </a:rPr>
              <a:t>  ],</a:t>
            </a:r>
          </a:p>
          <a:p>
            <a:pPr>
              <a:lnSpc>
                <a:spcPct val="100000"/>
              </a:lnSpc>
              <a:buNone/>
              <a:defRPr sz="1200">
                <a:solidFill>
                  <a:srgbClr val="DCE7F7"/>
                </a:solidFill>
                <a:latin typeface="Nimbus Mono PS"/>
                <a:ea typeface="Nimbus Mono PS"/>
                <a:cs typeface="Nimbus Mono PS"/>
              </a:defRPr>
            </a:pPr>
            <a:r>
              <a:rPr sz="1600" dirty="0">
                <a:ln w="0"/>
                <a:solidFill>
                  <a:schemeClr val="bg1"/>
                </a:solidFill>
                <a:effectLst>
                  <a:outerShdw blurRad="38100" dist="19050" dir="2700000" algn="tl" rotWithShape="0">
                    <a:schemeClr val="dk1">
                      <a:alpha val="40000"/>
                    </a:schemeClr>
                  </a:outerShdw>
                </a:effectLst>
                <a:latin typeface="Nimbus Mono PS"/>
                <a:ea typeface="Nimbus Mono PS"/>
                <a:cs typeface="Nimbus Mono PS"/>
              </a:rPr>
              <a:t>  "warnings": []</a:t>
            </a:r>
          </a:p>
          <a:p>
            <a:pPr>
              <a:lnSpc>
                <a:spcPct val="100000"/>
              </a:lnSpc>
              <a:buNone/>
              <a:defRPr sz="1200">
                <a:solidFill>
                  <a:srgbClr val="DCE7F7"/>
                </a:solidFill>
                <a:latin typeface="Nimbus Mono PS"/>
                <a:ea typeface="Nimbus Mono PS"/>
                <a:cs typeface="Nimbus Mono PS"/>
              </a:defRPr>
            </a:pPr>
            <a:r>
              <a:rPr sz="1600" dirty="0">
                <a:ln w="0"/>
                <a:solidFill>
                  <a:schemeClr val="bg1"/>
                </a:solidFill>
                <a:effectLst>
                  <a:outerShdw blurRad="38100" dist="19050" dir="2700000" algn="tl" rotWithShape="0">
                    <a:schemeClr val="dk1">
                      <a:alpha val="40000"/>
                    </a:schemeClr>
                  </a:outerShdw>
                </a:effectLst>
                <a:latin typeface="Nimbus Mono PS"/>
                <a:ea typeface="Nimbus Mono PS"/>
                <a:cs typeface="Nimbus Mono PS"/>
              </a:rPr>
              <a:t>}</a:t>
            </a:r>
          </a:p>
        </p:txBody>
      </p:sp>
      <p:sp>
        <p:nvSpPr>
          <p:cNvPr id="4" name="Rectangle 3">
            <a:extLst>
              <a:ext uri="{FF2B5EF4-FFF2-40B4-BE49-F238E27FC236}">
                <a16:creationId xmlns:a16="http://schemas.microsoft.com/office/drawing/2014/main" id="{65712067-A13B-4109-A4FA-B7A97DA06C88}"/>
              </a:ext>
            </a:extLst>
          </p:cNvPr>
          <p:cNvSpPr>
            <a:spLocks noGrp="1"/>
          </p:cNvSpPr>
          <p:nvPr/>
        </p:nvSpPr>
        <p:spPr>
          <a:xfrm>
            <a:off x="6762750" y="1790700"/>
            <a:ext cx="4000500" cy="400050"/>
          </a:xfrm>
          <a:prstGeom prst="rect">
            <a:avLst/>
          </a:prstGeom>
          <a:noFill/>
          <a:ln w="0">
            <a:noFill/>
          </a:ln>
        </p:spPr>
        <p:txBody>
          <a:bodyPr wrap="square" lIns="28575" tIns="19050" rIns="28575" bIns="19050" anchor="t">
            <a:normAutofit/>
          </a:bodyPr>
          <a:lstStyle/>
          <a:p>
            <a:pPr algn="l">
              <a:lnSpc>
                <a:spcPct val="100000"/>
              </a:lnSpc>
              <a:buNone/>
              <a:defRPr sz="2025" b="1">
                <a:solidFill>
                  <a:srgbClr val="000000"/>
                </a:solidFill>
                <a:latin typeface="Nimbus Sans"/>
                <a:ea typeface="Nimbus Sans"/>
                <a:cs typeface="Nimbus Sans"/>
              </a:defRPr>
            </a:pPr>
            <a:r>
              <a:rPr sz="2025" b="1">
                <a:solidFill>
                  <a:srgbClr val="000000"/>
                </a:solidFill>
                <a:latin typeface="Nimbus Sans"/>
                <a:ea typeface="Nimbus Sans"/>
                <a:cs typeface="Nimbus Sans"/>
              </a:rPr>
              <a:t>Visible evidence</a:t>
            </a:r>
          </a:p>
        </p:txBody>
      </p:sp>
      <p:sp>
        <p:nvSpPr>
          <p:cNvPr id="5" name="Rectangle 4">
            <a:extLst>
              <a:ext uri="{FF2B5EF4-FFF2-40B4-BE49-F238E27FC236}">
                <a16:creationId xmlns:a16="http://schemas.microsoft.com/office/drawing/2014/main" id="{B17B06EC-5AC7-417C-BED8-7E58DE2559FD}"/>
              </a:ext>
            </a:extLst>
          </p:cNvPr>
          <p:cNvSpPr>
            <a:spLocks noGrp="1"/>
          </p:cNvSpPr>
          <p:nvPr/>
        </p:nvSpPr>
        <p:spPr>
          <a:xfrm>
            <a:off x="6762750" y="2400300"/>
            <a:ext cx="4286250" cy="304800"/>
          </a:xfrm>
          <a:prstGeom prst="rect">
            <a:avLst/>
          </a:prstGeom>
          <a:noFill/>
          <a:ln w="0">
            <a:noFill/>
          </a:ln>
        </p:spPr>
        <p:txBody>
          <a:bodyPr wrap="square" lIns="28575" tIns="19050" rIns="28575" bIns="19050" anchor="t">
            <a:normAutofit/>
          </a:bodyPr>
          <a:lstStyle/>
          <a:p>
            <a:pPr algn="l">
              <a:lnSpc>
                <a:spcPct val="100000"/>
              </a:lnSpc>
              <a:buNone/>
              <a:defRPr sz="1575" b="1">
                <a:solidFill>
                  <a:srgbClr val="000000"/>
                </a:solidFill>
                <a:latin typeface="Nimbus Sans"/>
                <a:ea typeface="Nimbus Sans"/>
                <a:cs typeface="Nimbus Sans"/>
              </a:defRPr>
            </a:pPr>
            <a:r>
              <a:rPr sz="1575" b="1">
                <a:solidFill>
                  <a:srgbClr val="000000"/>
                </a:solidFill>
                <a:latin typeface="Nimbus Sans"/>
                <a:ea typeface="Nimbus Sans"/>
                <a:cs typeface="Nimbus Sans"/>
              </a:rPr>
              <a:t>Questions remain linked to answers</a:t>
            </a:r>
          </a:p>
        </p:txBody>
      </p:sp>
      <p:sp>
        <p:nvSpPr>
          <p:cNvPr id="6" name="Rectangle 5">
            <a:extLst>
              <a:ext uri="{FF2B5EF4-FFF2-40B4-BE49-F238E27FC236}">
                <a16:creationId xmlns:a16="http://schemas.microsoft.com/office/drawing/2014/main" id="{8C0E9527-1E75-481A-BB1B-D94FF4FD2BB2}"/>
              </a:ext>
            </a:extLst>
          </p:cNvPr>
          <p:cNvSpPr>
            <a:spLocks noGrp="1"/>
          </p:cNvSpPr>
          <p:nvPr/>
        </p:nvSpPr>
        <p:spPr>
          <a:xfrm>
            <a:off x="6762750" y="2762250"/>
            <a:ext cx="4286250" cy="666750"/>
          </a:xfrm>
          <a:prstGeom prst="rect">
            <a:avLst/>
          </a:prstGeom>
          <a:noFill/>
          <a:ln w="0">
            <a:noFill/>
          </a:ln>
        </p:spPr>
        <p:txBody>
          <a:bodyPr wrap="square" lIns="28575" tIns="19050" rIns="28575" bIns="19050" anchor="t">
            <a:normAutofit/>
          </a:bodyPr>
          <a:lstStyle/>
          <a:p>
            <a:pPr algn="l">
              <a:lnSpc>
                <a:spcPct val="108000"/>
              </a:lnSpc>
              <a:buNone/>
              <a:defRPr sz="1275" b="0">
                <a:solidFill>
                  <a:srgbClr val="3F3F3F"/>
                </a:solidFill>
                <a:latin typeface="Nimbus Sans"/>
                <a:ea typeface="Nimbus Sans"/>
                <a:cs typeface="Nimbus Sans"/>
              </a:defRPr>
            </a:pPr>
            <a:r>
              <a:rPr sz="1275" b="0">
                <a:solidFill>
                  <a:srgbClr val="3F3F3F"/>
                </a:solidFill>
                <a:latin typeface="Nimbus Sans"/>
                <a:ea typeface="Nimbus Sans"/>
                <a:cs typeface="Nimbus Sans"/>
              </a:rPr>
              <a:t>The parser returns complete FAQ records rather than disconnected text.</a:t>
            </a:r>
          </a:p>
        </p:txBody>
      </p:sp>
      <p:sp>
        <p:nvSpPr>
          <p:cNvPr id="7" name="Rectangle 6">
            <a:extLst>
              <a:ext uri="{FF2B5EF4-FFF2-40B4-BE49-F238E27FC236}">
                <a16:creationId xmlns:a16="http://schemas.microsoft.com/office/drawing/2014/main" id="{4D9E0C5A-9A1D-4569-89C2-E38069E2D246}"/>
              </a:ext>
            </a:extLst>
          </p:cNvPr>
          <p:cNvSpPr>
            <a:spLocks noGrp="1"/>
          </p:cNvSpPr>
          <p:nvPr/>
        </p:nvSpPr>
        <p:spPr>
          <a:xfrm>
            <a:off x="6762750" y="3543300"/>
            <a:ext cx="4286250" cy="304800"/>
          </a:xfrm>
          <a:prstGeom prst="rect">
            <a:avLst/>
          </a:prstGeom>
          <a:noFill/>
          <a:ln w="0">
            <a:noFill/>
          </a:ln>
        </p:spPr>
        <p:txBody>
          <a:bodyPr wrap="square" lIns="28575" tIns="19050" rIns="28575" bIns="19050" anchor="t">
            <a:normAutofit/>
          </a:bodyPr>
          <a:lstStyle/>
          <a:p>
            <a:pPr algn="l">
              <a:lnSpc>
                <a:spcPct val="100000"/>
              </a:lnSpc>
              <a:buNone/>
              <a:defRPr sz="1575" b="1">
                <a:solidFill>
                  <a:srgbClr val="000000"/>
                </a:solidFill>
                <a:latin typeface="Nimbus Sans"/>
                <a:ea typeface="Nimbus Sans"/>
                <a:cs typeface="Nimbus Sans"/>
              </a:defRPr>
            </a:pPr>
            <a:r>
              <a:rPr sz="1575" b="1">
                <a:solidFill>
                  <a:srgbClr val="000000"/>
                </a:solidFill>
                <a:latin typeface="Nimbus Sans"/>
                <a:ea typeface="Nimbus Sans"/>
                <a:cs typeface="Nimbus Sans"/>
              </a:rPr>
              <a:t>Source information remains available</a:t>
            </a:r>
          </a:p>
        </p:txBody>
      </p:sp>
      <p:sp>
        <p:nvSpPr>
          <p:cNvPr id="8" name="Rectangle 7">
            <a:extLst>
              <a:ext uri="{FF2B5EF4-FFF2-40B4-BE49-F238E27FC236}">
                <a16:creationId xmlns:a16="http://schemas.microsoft.com/office/drawing/2014/main" id="{1122AC76-50CE-4C98-9324-73CEFBD25F85}"/>
              </a:ext>
            </a:extLst>
          </p:cNvPr>
          <p:cNvSpPr>
            <a:spLocks noGrp="1"/>
          </p:cNvSpPr>
          <p:nvPr/>
        </p:nvSpPr>
        <p:spPr>
          <a:xfrm>
            <a:off x="6762750" y="3905250"/>
            <a:ext cx="4286250" cy="666750"/>
          </a:xfrm>
          <a:prstGeom prst="rect">
            <a:avLst/>
          </a:prstGeom>
          <a:noFill/>
          <a:ln w="0">
            <a:noFill/>
          </a:ln>
        </p:spPr>
        <p:txBody>
          <a:bodyPr wrap="square" lIns="28575" tIns="19050" rIns="28575" bIns="19050" anchor="t">
            <a:normAutofit/>
          </a:bodyPr>
          <a:lstStyle/>
          <a:p>
            <a:pPr algn="l">
              <a:lnSpc>
                <a:spcPct val="108000"/>
              </a:lnSpc>
              <a:buNone/>
              <a:defRPr sz="1275" b="0">
                <a:solidFill>
                  <a:srgbClr val="3F3F3F"/>
                </a:solidFill>
                <a:latin typeface="Nimbus Sans"/>
                <a:ea typeface="Nimbus Sans"/>
                <a:cs typeface="Nimbus Sans"/>
              </a:defRPr>
            </a:pPr>
            <a:r>
              <a:rPr sz="1275" b="0">
                <a:solidFill>
                  <a:srgbClr val="3F3F3F"/>
                </a:solidFill>
                <a:latin typeface="Nimbus Sans"/>
                <a:ea typeface="Nimbus Sans"/>
                <a:cs typeface="Nimbus Sans"/>
              </a:rPr>
              <a:t>Each record identifies the file and location used during extraction.</a:t>
            </a:r>
          </a:p>
        </p:txBody>
      </p:sp>
      <p:sp>
        <p:nvSpPr>
          <p:cNvPr id="9" name="Rectangle 8">
            <a:extLst>
              <a:ext uri="{FF2B5EF4-FFF2-40B4-BE49-F238E27FC236}">
                <a16:creationId xmlns:a16="http://schemas.microsoft.com/office/drawing/2014/main" id="{D37BE451-41C5-4B67-9DCF-EC2620537E01}"/>
              </a:ext>
            </a:extLst>
          </p:cNvPr>
          <p:cNvSpPr>
            <a:spLocks noGrp="1"/>
          </p:cNvSpPr>
          <p:nvPr/>
        </p:nvSpPr>
        <p:spPr>
          <a:xfrm>
            <a:off x="6762750" y="4686300"/>
            <a:ext cx="4286250" cy="304800"/>
          </a:xfrm>
          <a:prstGeom prst="rect">
            <a:avLst/>
          </a:prstGeom>
          <a:noFill/>
          <a:ln w="0">
            <a:noFill/>
          </a:ln>
        </p:spPr>
        <p:txBody>
          <a:bodyPr wrap="square" lIns="28575" tIns="19050" rIns="28575" bIns="19050" anchor="t">
            <a:normAutofit/>
          </a:bodyPr>
          <a:lstStyle/>
          <a:p>
            <a:pPr algn="l">
              <a:lnSpc>
                <a:spcPct val="100000"/>
              </a:lnSpc>
              <a:buNone/>
              <a:defRPr sz="1575" b="1">
                <a:solidFill>
                  <a:srgbClr val="000000"/>
                </a:solidFill>
                <a:latin typeface="Nimbus Sans"/>
                <a:ea typeface="Nimbus Sans"/>
                <a:cs typeface="Nimbus Sans"/>
              </a:defRPr>
            </a:pPr>
            <a:r>
              <a:rPr sz="1575" b="1">
                <a:solidFill>
                  <a:srgbClr val="000000"/>
                </a:solidFill>
                <a:latin typeface="Nimbus Sans"/>
                <a:ea typeface="Nimbus Sans"/>
                <a:cs typeface="Nimbus Sans"/>
              </a:rPr>
              <a:t>Problems appear as warnings</a:t>
            </a:r>
          </a:p>
        </p:txBody>
      </p:sp>
      <p:sp>
        <p:nvSpPr>
          <p:cNvPr id="10" name="Rectangle 9">
            <a:extLst>
              <a:ext uri="{FF2B5EF4-FFF2-40B4-BE49-F238E27FC236}">
                <a16:creationId xmlns:a16="http://schemas.microsoft.com/office/drawing/2014/main" id="{3642AAB5-FDBA-4745-A82A-9135AD384E33}"/>
              </a:ext>
            </a:extLst>
          </p:cNvPr>
          <p:cNvSpPr>
            <a:spLocks noGrp="1"/>
          </p:cNvSpPr>
          <p:nvPr/>
        </p:nvSpPr>
        <p:spPr>
          <a:xfrm>
            <a:off x="6762750" y="5048250"/>
            <a:ext cx="4286250" cy="666750"/>
          </a:xfrm>
          <a:prstGeom prst="rect">
            <a:avLst/>
          </a:prstGeom>
          <a:noFill/>
          <a:ln w="0">
            <a:noFill/>
          </a:ln>
        </p:spPr>
        <p:txBody>
          <a:bodyPr wrap="square" lIns="28575" tIns="19050" rIns="28575" bIns="19050" anchor="t">
            <a:normAutofit/>
          </a:bodyPr>
          <a:lstStyle/>
          <a:p>
            <a:pPr algn="l">
              <a:lnSpc>
                <a:spcPct val="108000"/>
              </a:lnSpc>
              <a:buNone/>
              <a:defRPr sz="1275" b="0">
                <a:solidFill>
                  <a:srgbClr val="3F3F3F"/>
                </a:solidFill>
                <a:latin typeface="Nimbus Sans"/>
                <a:ea typeface="Nimbus Sans"/>
                <a:cs typeface="Nimbus Sans"/>
              </a:defRPr>
            </a:pPr>
            <a:r>
              <a:rPr sz="1275" b="0">
                <a:solidFill>
                  <a:srgbClr val="3F3F3F"/>
                </a:solidFill>
                <a:latin typeface="Nimbus Sans"/>
                <a:ea typeface="Nimbus Sans"/>
                <a:cs typeface="Nimbus Sans"/>
              </a:rPr>
              <a:t>The demo shows incomplete rows or unsupported content instead of silently accepting it.</a:t>
            </a:r>
          </a:p>
        </p:txBody>
      </p:sp>
      <p:sp>
        <p:nvSpPr>
          <p:cNvPr id="11" name="Rectangle 10">
            <a:extLst>
              <a:ext uri="{FF2B5EF4-FFF2-40B4-BE49-F238E27FC236}">
                <a16:creationId xmlns:a16="http://schemas.microsoft.com/office/drawing/2014/main" id="{8167BA05-374F-47EE-97EA-BAC7E6D0CEDD}"/>
              </a:ext>
            </a:extLst>
          </p:cNvPr>
          <p:cNvSpPr>
            <a:spLocks noGrp="1"/>
          </p:cNvSpPr>
          <p:nvPr/>
        </p:nvSpPr>
        <p:spPr>
          <a:xfrm>
            <a:off x="11144250" y="6381750"/>
            <a:ext cx="419100" cy="228600"/>
          </a:xfrm>
          <a:prstGeom prst="rect">
            <a:avLst/>
          </a:prstGeom>
          <a:noFill/>
          <a:ln w="0">
            <a:noFill/>
          </a:ln>
        </p:spPr>
        <p:txBody>
          <a:bodyPr wrap="square" lIns="28575" tIns="19050" rIns="28575" bIns="19050" anchor="t">
            <a:normAutofit/>
          </a:bodyPr>
          <a:lstStyle/>
          <a:p>
            <a:pPr algn="r">
              <a:lnSpc>
                <a:spcPct val="100000"/>
              </a:lnSpc>
              <a:buNone/>
              <a:defRPr sz="900" b="0">
                <a:solidFill>
                  <a:srgbClr val="7A879A"/>
                </a:solidFill>
                <a:latin typeface="Nimbus Sans"/>
                <a:ea typeface="Nimbus Sans"/>
                <a:cs typeface="Nimbus Sans"/>
              </a:defRPr>
            </a:pPr>
            <a:r>
              <a:rPr sz="900" b="0">
                <a:solidFill>
                  <a:srgbClr val="7A879A"/>
                </a:solidFill>
                <a:latin typeface="Nimbus Sans"/>
                <a:ea typeface="Nimbus Sans"/>
                <a:cs typeface="Nimbus Sans"/>
              </a:rPr>
              <a:t>06</a:t>
            </a:r>
          </a:p>
        </p:txBody>
      </p:sp>
    </p:spTree>
    <p:extLst>
      <p:ext uri="{BB962C8B-B14F-4D97-AF65-F5344CB8AC3E}">
        <p14:creationId xmlns:p14="http://schemas.microsoft.com/office/powerpoint/2010/main" val="7503341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3162EF2-C672-4798-A9C8-B52920981003}"/>
              </a:ext>
            </a:extLst>
          </p:cNvPr>
          <p:cNvSpPr>
            <a:spLocks noGrp="1"/>
          </p:cNvSpPr>
          <p:nvPr/>
        </p:nvSpPr>
        <p:spPr>
          <a:xfrm>
            <a:off x="685800" y="438150"/>
            <a:ext cx="10191750" cy="552450"/>
          </a:xfrm>
          <a:prstGeom prst="rect">
            <a:avLst/>
          </a:prstGeom>
          <a:noFill/>
          <a:ln w="0">
            <a:noFill/>
          </a:ln>
        </p:spPr>
        <p:txBody>
          <a:bodyPr wrap="square" lIns="28575" tIns="19050" rIns="28575" bIns="19050" anchor="t">
            <a:normAutofit/>
          </a:bodyPr>
          <a:lstStyle/>
          <a:p>
            <a:pPr algn="l">
              <a:lnSpc>
                <a:spcPct val="100000"/>
              </a:lnSpc>
              <a:buNone/>
              <a:defRPr sz="2700" b="1">
                <a:solidFill>
                  <a:srgbClr val="000000"/>
                </a:solidFill>
                <a:latin typeface="Nimbus Sans"/>
                <a:ea typeface="Nimbus Sans"/>
                <a:cs typeface="Nimbus Sans"/>
              </a:defRPr>
            </a:pPr>
            <a:r>
              <a:rPr sz="2700" b="1">
                <a:solidFill>
                  <a:srgbClr val="000000"/>
                </a:solidFill>
                <a:latin typeface="Nimbus Sans"/>
                <a:ea typeface="Nimbus Sans"/>
                <a:cs typeface="Nimbus Sans"/>
              </a:rPr>
              <a:t>Current scope</a:t>
            </a:r>
          </a:p>
        </p:txBody>
      </p:sp>
      <p:sp>
        <p:nvSpPr>
          <p:cNvPr id="2" name="Rectangle 1">
            <a:extLst>
              <a:ext uri="{FF2B5EF4-FFF2-40B4-BE49-F238E27FC236}">
                <a16:creationId xmlns:a16="http://schemas.microsoft.com/office/drawing/2014/main" id="{747C636B-CEB9-4A2D-BA73-F92417FE8203}"/>
              </a:ext>
            </a:extLst>
          </p:cNvPr>
          <p:cNvSpPr>
            <a:spLocks noGrp="1"/>
          </p:cNvSpPr>
          <p:nvPr/>
        </p:nvSpPr>
        <p:spPr>
          <a:xfrm>
            <a:off x="704850" y="1009650"/>
            <a:ext cx="10287000" cy="400050"/>
          </a:xfrm>
          <a:prstGeom prst="rect">
            <a:avLst/>
          </a:prstGeom>
          <a:noFill/>
          <a:ln w="0">
            <a:noFill/>
          </a:ln>
        </p:spPr>
        <p:txBody>
          <a:bodyPr wrap="square" lIns="28575" tIns="19050" rIns="28575" bIns="19050" anchor="t">
            <a:normAutofit/>
          </a:bodyPr>
          <a:lstStyle/>
          <a:p>
            <a:pPr algn="l">
              <a:lnSpc>
                <a:spcPct val="100000"/>
              </a:lnSpc>
              <a:buNone/>
              <a:defRPr sz="1425" b="0">
                <a:solidFill>
                  <a:srgbClr val="3F3F3F"/>
                </a:solidFill>
                <a:latin typeface="Nimbus Sans"/>
                <a:ea typeface="Nimbus Sans"/>
                <a:cs typeface="Nimbus Sans"/>
              </a:defRPr>
            </a:pPr>
            <a:r>
              <a:rPr sz="1425" b="0">
                <a:solidFill>
                  <a:srgbClr val="3F3F3F"/>
                </a:solidFill>
                <a:latin typeface="Nimbus Sans"/>
                <a:ea typeface="Nimbus Sans"/>
                <a:cs typeface="Nimbus Sans"/>
              </a:rPr>
              <a:t>The demo stays focused on parsing so the team can evaluate extraction quality first</a:t>
            </a:r>
          </a:p>
        </p:txBody>
      </p:sp>
      <p:sp>
        <p:nvSpPr>
          <p:cNvPr id="3" name="Rectangle 2">
            <a:extLst>
              <a:ext uri="{FF2B5EF4-FFF2-40B4-BE49-F238E27FC236}">
                <a16:creationId xmlns:a16="http://schemas.microsoft.com/office/drawing/2014/main" id="{46CF8675-7E8D-4B87-B389-2A5B542F1DFE}"/>
              </a:ext>
            </a:extLst>
          </p:cNvPr>
          <p:cNvSpPr>
            <a:spLocks noGrp="1"/>
          </p:cNvSpPr>
          <p:nvPr/>
        </p:nvSpPr>
        <p:spPr>
          <a:xfrm>
            <a:off x="1047750" y="1752600"/>
            <a:ext cx="4095750" cy="457200"/>
          </a:xfrm>
          <a:prstGeom prst="rect">
            <a:avLst/>
          </a:prstGeom>
          <a:noFill/>
          <a:ln w="0">
            <a:noFill/>
          </a:ln>
        </p:spPr>
        <p:txBody>
          <a:bodyPr wrap="square" lIns="28575" tIns="19050" rIns="28575" bIns="19050" anchor="t">
            <a:normAutofit/>
          </a:bodyPr>
          <a:lstStyle/>
          <a:p>
            <a:pPr algn="l">
              <a:lnSpc>
                <a:spcPct val="100000"/>
              </a:lnSpc>
              <a:buNone/>
              <a:defRPr sz="2175" b="1">
                <a:solidFill>
                  <a:srgbClr val="000000"/>
                </a:solidFill>
                <a:latin typeface="Nimbus Sans"/>
                <a:ea typeface="Nimbus Sans"/>
                <a:cs typeface="Nimbus Sans"/>
              </a:defRPr>
            </a:pPr>
            <a:r>
              <a:rPr sz="2175" b="1">
                <a:solidFill>
                  <a:srgbClr val="000000"/>
                </a:solidFill>
                <a:latin typeface="Nimbus Sans"/>
                <a:ea typeface="Nimbus Sans"/>
                <a:cs typeface="Nimbus Sans"/>
              </a:rPr>
              <a:t>Included</a:t>
            </a:r>
          </a:p>
        </p:txBody>
      </p:sp>
      <p:sp>
        <p:nvSpPr>
          <p:cNvPr id="4" name="Rectangle 3">
            <a:extLst>
              <a:ext uri="{FF2B5EF4-FFF2-40B4-BE49-F238E27FC236}">
                <a16:creationId xmlns:a16="http://schemas.microsoft.com/office/drawing/2014/main" id="{2EE62E82-9556-4DA9-925B-1B6825BC4522}"/>
              </a:ext>
            </a:extLst>
          </p:cNvPr>
          <p:cNvSpPr>
            <a:spLocks noGrp="1"/>
          </p:cNvSpPr>
          <p:nvPr/>
        </p:nvSpPr>
        <p:spPr>
          <a:xfrm>
            <a:off x="6858000" y="1752600"/>
            <a:ext cx="4095750" cy="457200"/>
          </a:xfrm>
          <a:prstGeom prst="rect">
            <a:avLst/>
          </a:prstGeom>
          <a:noFill/>
          <a:ln w="0">
            <a:noFill/>
          </a:ln>
        </p:spPr>
        <p:txBody>
          <a:bodyPr wrap="square" lIns="28575" tIns="19050" rIns="28575" bIns="19050" anchor="t">
            <a:normAutofit/>
          </a:bodyPr>
          <a:lstStyle/>
          <a:p>
            <a:pPr algn="l">
              <a:lnSpc>
                <a:spcPct val="100000"/>
              </a:lnSpc>
              <a:buNone/>
              <a:defRPr sz="2175" b="1">
                <a:solidFill>
                  <a:srgbClr val="000000"/>
                </a:solidFill>
                <a:latin typeface="Nimbus Sans"/>
                <a:ea typeface="Nimbus Sans"/>
                <a:cs typeface="Nimbus Sans"/>
              </a:defRPr>
            </a:pPr>
            <a:r>
              <a:rPr sz="2175" b="1">
                <a:solidFill>
                  <a:srgbClr val="000000"/>
                </a:solidFill>
                <a:latin typeface="Nimbus Sans"/>
                <a:ea typeface="Nimbus Sans"/>
                <a:cs typeface="Nimbus Sans"/>
              </a:rPr>
              <a:t>Deferred</a:t>
            </a:r>
          </a:p>
        </p:txBody>
      </p:sp>
      <p:sp>
        <p:nvSpPr>
          <p:cNvPr id="5" name="Rectangle 4">
            <a:extLst>
              <a:ext uri="{FF2B5EF4-FFF2-40B4-BE49-F238E27FC236}">
                <a16:creationId xmlns:a16="http://schemas.microsoft.com/office/drawing/2014/main" id="{7468E005-B9A2-4BB0-B545-73921BD3CE77}"/>
              </a:ext>
            </a:extLst>
          </p:cNvPr>
          <p:cNvSpPr>
            <a:spLocks noGrp="1"/>
          </p:cNvSpPr>
          <p:nvPr/>
        </p:nvSpPr>
        <p:spPr>
          <a:xfrm>
            <a:off x="1047750" y="2476500"/>
            <a:ext cx="4286250" cy="590550"/>
          </a:xfrm>
          <a:prstGeom prst="rect">
            <a:avLst/>
          </a:prstGeom>
          <a:noFill/>
          <a:ln w="0">
            <a:noFill/>
          </a:ln>
        </p:spPr>
        <p:txBody>
          <a:bodyPr wrap="square" lIns="28575" tIns="19050" rIns="28575" bIns="19050" anchor="t">
            <a:normAutofit/>
          </a:bodyPr>
          <a:lstStyle/>
          <a:p>
            <a:pPr algn="l">
              <a:lnSpc>
                <a:spcPct val="100000"/>
              </a:lnSpc>
              <a:buNone/>
              <a:defRPr sz="1425" b="0">
                <a:solidFill>
                  <a:srgbClr val="000000"/>
                </a:solidFill>
                <a:latin typeface="Nimbus Sans"/>
                <a:ea typeface="Nimbus Sans"/>
                <a:cs typeface="Nimbus Sans"/>
              </a:defRPr>
            </a:pPr>
            <a:r>
              <a:rPr sz="1425" b="0">
                <a:solidFill>
                  <a:srgbClr val="000000"/>
                </a:solidFill>
                <a:latin typeface="Nimbus Sans"/>
                <a:ea typeface="Nimbus Sans"/>
                <a:cs typeface="Nimbus Sans"/>
              </a:rPr>
              <a:t>FAQ tables and styled FAQ documents in Word</a:t>
            </a:r>
          </a:p>
        </p:txBody>
      </p:sp>
      <p:sp>
        <p:nvSpPr>
          <p:cNvPr id="6" name="Rectangle 5">
            <a:extLst>
              <a:ext uri="{FF2B5EF4-FFF2-40B4-BE49-F238E27FC236}">
                <a16:creationId xmlns:a16="http://schemas.microsoft.com/office/drawing/2014/main" id="{168F6B36-0155-4F19-9CD3-720DB8650B32}"/>
              </a:ext>
            </a:extLst>
          </p:cNvPr>
          <p:cNvSpPr>
            <a:spLocks noGrp="1"/>
          </p:cNvSpPr>
          <p:nvPr/>
        </p:nvSpPr>
        <p:spPr>
          <a:xfrm>
            <a:off x="1047750" y="3219450"/>
            <a:ext cx="4286250" cy="590550"/>
          </a:xfrm>
          <a:prstGeom prst="rect">
            <a:avLst/>
          </a:prstGeom>
          <a:noFill/>
          <a:ln w="0">
            <a:noFill/>
          </a:ln>
        </p:spPr>
        <p:txBody>
          <a:bodyPr wrap="square" lIns="28575" tIns="19050" rIns="28575" bIns="19050" anchor="t">
            <a:normAutofit/>
          </a:bodyPr>
          <a:lstStyle/>
          <a:p>
            <a:pPr algn="l">
              <a:lnSpc>
                <a:spcPct val="100000"/>
              </a:lnSpc>
              <a:buNone/>
              <a:defRPr sz="1425" b="0">
                <a:solidFill>
                  <a:srgbClr val="000000"/>
                </a:solidFill>
                <a:latin typeface="Nimbus Sans"/>
                <a:ea typeface="Nimbus Sans"/>
                <a:cs typeface="Nimbus Sans"/>
              </a:defRPr>
            </a:pPr>
            <a:r>
              <a:rPr sz="1425" b="0">
                <a:solidFill>
                  <a:srgbClr val="000000"/>
                </a:solidFill>
                <a:latin typeface="Nimbus Sans"/>
                <a:ea typeface="Nimbus Sans"/>
                <a:cs typeface="Nimbus Sans"/>
              </a:rPr>
              <a:t>digital </a:t>
            </a:r>
            <a:r>
              <a:rPr sz="1425" b="0" dirty="0">
                <a:solidFill>
                  <a:srgbClr val="000000"/>
                </a:solidFill>
                <a:latin typeface="Nimbus Sans"/>
                <a:ea typeface="Nimbus Sans"/>
                <a:cs typeface="Nimbus Sans"/>
              </a:rPr>
              <a:t>PDFs with selectable text</a:t>
            </a:r>
          </a:p>
        </p:txBody>
      </p:sp>
      <p:sp>
        <p:nvSpPr>
          <p:cNvPr id="7" name="Rectangle 6">
            <a:extLst>
              <a:ext uri="{FF2B5EF4-FFF2-40B4-BE49-F238E27FC236}">
                <a16:creationId xmlns:a16="http://schemas.microsoft.com/office/drawing/2014/main" id="{DC953423-F964-4BD3-8257-D63568B457B3}"/>
              </a:ext>
            </a:extLst>
          </p:cNvPr>
          <p:cNvSpPr>
            <a:spLocks noGrp="1"/>
          </p:cNvSpPr>
          <p:nvPr/>
        </p:nvSpPr>
        <p:spPr>
          <a:xfrm>
            <a:off x="1047750" y="3962400"/>
            <a:ext cx="4286250" cy="590550"/>
          </a:xfrm>
          <a:prstGeom prst="rect">
            <a:avLst/>
          </a:prstGeom>
          <a:noFill/>
          <a:ln w="0">
            <a:noFill/>
          </a:ln>
        </p:spPr>
        <p:txBody>
          <a:bodyPr wrap="square" lIns="28575" tIns="19050" rIns="28575" bIns="19050" anchor="t">
            <a:normAutofit/>
          </a:bodyPr>
          <a:lstStyle/>
          <a:p>
            <a:pPr algn="l">
              <a:lnSpc>
                <a:spcPct val="100000"/>
              </a:lnSpc>
              <a:buNone/>
              <a:defRPr sz="1425" b="0">
                <a:solidFill>
                  <a:srgbClr val="000000"/>
                </a:solidFill>
                <a:latin typeface="Nimbus Sans"/>
                <a:ea typeface="Nimbus Sans"/>
                <a:cs typeface="Nimbus Sans"/>
              </a:defRPr>
            </a:pPr>
            <a:r>
              <a:rPr sz="1425" b="0">
                <a:solidFill>
                  <a:srgbClr val="000000"/>
                </a:solidFill>
                <a:latin typeface="Nimbus Sans"/>
                <a:ea typeface="Nimbus Sans"/>
                <a:cs typeface="Nimbus Sans"/>
              </a:rPr>
              <a:t>Separate shared and full schedule CSV files</a:t>
            </a:r>
          </a:p>
        </p:txBody>
      </p:sp>
      <p:sp>
        <p:nvSpPr>
          <p:cNvPr id="8" name="Rectangle 7">
            <a:extLst>
              <a:ext uri="{FF2B5EF4-FFF2-40B4-BE49-F238E27FC236}">
                <a16:creationId xmlns:a16="http://schemas.microsoft.com/office/drawing/2014/main" id="{55E89B7D-1278-4736-8BA2-C8FACBDB6117}"/>
              </a:ext>
            </a:extLst>
          </p:cNvPr>
          <p:cNvSpPr>
            <a:spLocks noGrp="1"/>
          </p:cNvSpPr>
          <p:nvPr/>
        </p:nvSpPr>
        <p:spPr>
          <a:xfrm>
            <a:off x="1047750" y="4705350"/>
            <a:ext cx="4286250" cy="590550"/>
          </a:xfrm>
          <a:prstGeom prst="rect">
            <a:avLst/>
          </a:prstGeom>
          <a:noFill/>
          <a:ln w="0">
            <a:noFill/>
          </a:ln>
        </p:spPr>
        <p:txBody>
          <a:bodyPr wrap="square" lIns="28575" tIns="19050" rIns="28575" bIns="19050" anchor="t">
            <a:normAutofit/>
          </a:bodyPr>
          <a:lstStyle/>
          <a:p>
            <a:pPr algn="l">
              <a:lnSpc>
                <a:spcPct val="100000"/>
              </a:lnSpc>
              <a:buNone/>
              <a:defRPr sz="1425" b="0">
                <a:solidFill>
                  <a:srgbClr val="000000"/>
                </a:solidFill>
                <a:latin typeface="Nimbus Sans"/>
                <a:ea typeface="Nimbus Sans"/>
                <a:cs typeface="Nimbus Sans"/>
              </a:defRPr>
            </a:pPr>
            <a:r>
              <a:rPr sz="1425" b="0">
                <a:solidFill>
                  <a:srgbClr val="000000"/>
                </a:solidFill>
                <a:latin typeface="Nimbus Sans"/>
                <a:ea typeface="Nimbus Sans"/>
                <a:cs typeface="Nimbus Sans"/>
              </a:rPr>
              <a:t>Normalized JSON output with validation warnings</a:t>
            </a:r>
          </a:p>
        </p:txBody>
      </p:sp>
      <p:sp>
        <p:nvSpPr>
          <p:cNvPr id="9" name="Rectangle 8">
            <a:extLst>
              <a:ext uri="{FF2B5EF4-FFF2-40B4-BE49-F238E27FC236}">
                <a16:creationId xmlns:a16="http://schemas.microsoft.com/office/drawing/2014/main" id="{8020BDB2-3DF7-4CD4-B4C4-DCF4EDCF2728}"/>
              </a:ext>
            </a:extLst>
          </p:cNvPr>
          <p:cNvSpPr>
            <a:spLocks noGrp="1"/>
          </p:cNvSpPr>
          <p:nvPr/>
        </p:nvSpPr>
        <p:spPr>
          <a:xfrm>
            <a:off x="6858000" y="2476500"/>
            <a:ext cx="4286250" cy="590550"/>
          </a:xfrm>
          <a:prstGeom prst="rect">
            <a:avLst/>
          </a:prstGeom>
          <a:noFill/>
          <a:ln w="0">
            <a:noFill/>
          </a:ln>
        </p:spPr>
        <p:txBody>
          <a:bodyPr wrap="square" lIns="28575" tIns="19050" rIns="28575" bIns="19050" anchor="t">
            <a:normAutofit/>
          </a:bodyPr>
          <a:lstStyle/>
          <a:p>
            <a:pPr algn="l">
              <a:lnSpc>
                <a:spcPct val="100000"/>
              </a:lnSpc>
              <a:buNone/>
              <a:defRPr sz="1425" b="0">
                <a:solidFill>
                  <a:srgbClr val="000000"/>
                </a:solidFill>
                <a:latin typeface="Nimbus Sans"/>
                <a:ea typeface="Nimbus Sans"/>
                <a:cs typeface="Nimbus Sans"/>
              </a:defRPr>
            </a:pPr>
            <a:r>
              <a:rPr sz="1425" b="0">
                <a:solidFill>
                  <a:srgbClr val="000000"/>
                </a:solidFill>
                <a:latin typeface="Nimbus Sans"/>
                <a:ea typeface="Nimbus Sans"/>
                <a:cs typeface="Nimbus Sans"/>
              </a:rPr>
              <a:t>Scanned PDFs, images, and OCR</a:t>
            </a:r>
          </a:p>
        </p:txBody>
      </p:sp>
      <p:sp>
        <p:nvSpPr>
          <p:cNvPr id="13" name="Rectangle 12">
            <a:extLst>
              <a:ext uri="{FF2B5EF4-FFF2-40B4-BE49-F238E27FC236}">
                <a16:creationId xmlns:a16="http://schemas.microsoft.com/office/drawing/2014/main" id="{E18FB173-C1A2-437D-AFDC-73D476F373B1}"/>
              </a:ext>
            </a:extLst>
          </p:cNvPr>
          <p:cNvSpPr>
            <a:spLocks noGrp="1"/>
          </p:cNvSpPr>
          <p:nvPr/>
        </p:nvSpPr>
        <p:spPr>
          <a:xfrm>
            <a:off x="1619250" y="5695950"/>
            <a:ext cx="8953500" cy="457200"/>
          </a:xfrm>
          <a:prstGeom prst="rect">
            <a:avLst/>
          </a:prstGeom>
          <a:noFill/>
          <a:ln w="0">
            <a:noFill/>
          </a:ln>
        </p:spPr>
        <p:txBody>
          <a:bodyPr wrap="square" lIns="28575" tIns="19050" rIns="28575" bIns="19050" anchor="t">
            <a:normAutofit/>
          </a:bodyPr>
          <a:lstStyle/>
          <a:p>
            <a:pPr algn="ctr">
              <a:lnSpc>
                <a:spcPct val="100000"/>
              </a:lnSpc>
              <a:buNone/>
              <a:defRPr sz="1575" b="1">
                <a:solidFill>
                  <a:srgbClr val="000000"/>
                </a:solidFill>
                <a:latin typeface="Nimbus Sans"/>
                <a:ea typeface="Nimbus Sans"/>
                <a:cs typeface="Nimbus Sans"/>
              </a:defRPr>
            </a:pPr>
            <a:r>
              <a:rPr sz="1575" b="1">
                <a:solidFill>
                  <a:srgbClr val="000000"/>
                </a:solidFill>
                <a:latin typeface="Nimbus Sans"/>
                <a:ea typeface="Nimbus Sans"/>
                <a:cs typeface="Nimbus Sans"/>
              </a:rPr>
              <a:t>This boundary keeps the decision tied to parser accuracy rather than infrastructure choices.</a:t>
            </a:r>
          </a:p>
        </p:txBody>
      </p:sp>
      <p:sp>
        <p:nvSpPr>
          <p:cNvPr id="14" name="Rectangle 13">
            <a:extLst>
              <a:ext uri="{FF2B5EF4-FFF2-40B4-BE49-F238E27FC236}">
                <a16:creationId xmlns:a16="http://schemas.microsoft.com/office/drawing/2014/main" id="{17A4038D-F052-4AB1-A237-431AC589F1F6}"/>
              </a:ext>
            </a:extLst>
          </p:cNvPr>
          <p:cNvSpPr>
            <a:spLocks noGrp="1"/>
          </p:cNvSpPr>
          <p:nvPr/>
        </p:nvSpPr>
        <p:spPr>
          <a:xfrm>
            <a:off x="11144250" y="6381750"/>
            <a:ext cx="419100" cy="228600"/>
          </a:xfrm>
          <a:prstGeom prst="rect">
            <a:avLst/>
          </a:prstGeom>
          <a:noFill/>
          <a:ln w="0">
            <a:noFill/>
          </a:ln>
        </p:spPr>
        <p:txBody>
          <a:bodyPr wrap="square" lIns="28575" tIns="19050" rIns="28575" bIns="19050" anchor="t">
            <a:normAutofit/>
          </a:bodyPr>
          <a:lstStyle/>
          <a:p>
            <a:pPr algn="r">
              <a:lnSpc>
                <a:spcPct val="100000"/>
              </a:lnSpc>
              <a:buNone/>
              <a:defRPr sz="900" b="0">
                <a:solidFill>
                  <a:srgbClr val="7A879A"/>
                </a:solidFill>
                <a:latin typeface="Nimbus Sans"/>
                <a:ea typeface="Nimbus Sans"/>
                <a:cs typeface="Nimbus Sans"/>
              </a:defRPr>
            </a:pPr>
            <a:r>
              <a:rPr sz="900" b="0">
                <a:solidFill>
                  <a:srgbClr val="7A879A"/>
                </a:solidFill>
                <a:latin typeface="Nimbus Sans"/>
                <a:ea typeface="Nimbus Sans"/>
                <a:cs typeface="Nimbus Sans"/>
              </a:rPr>
              <a:t>07</a:t>
            </a:r>
          </a:p>
        </p:txBody>
      </p:sp>
    </p:spTree>
    <p:extLst>
      <p:ext uri="{BB962C8B-B14F-4D97-AF65-F5344CB8AC3E}">
        <p14:creationId xmlns:p14="http://schemas.microsoft.com/office/powerpoint/2010/main" val="1573691975"/>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90E62DF-F211-4DAE-84B2-F35DF8900F59}"/>
              </a:ext>
            </a:extLst>
          </p:cNvPr>
          <p:cNvSpPr>
            <a:spLocks noGrp="1"/>
          </p:cNvSpPr>
          <p:nvPr/>
        </p:nvSpPr>
        <p:spPr>
          <a:xfrm>
            <a:off x="762000" y="685800"/>
            <a:ext cx="9239250" cy="609600"/>
          </a:xfrm>
          <a:prstGeom prst="rect">
            <a:avLst/>
          </a:prstGeom>
          <a:noFill/>
          <a:ln w="0">
            <a:noFill/>
          </a:ln>
        </p:spPr>
        <p:txBody>
          <a:bodyPr wrap="square" lIns="28575" tIns="19050" rIns="28575" bIns="19050" anchor="t">
            <a:normAutofit/>
          </a:bodyPr>
          <a:lstStyle/>
          <a:p>
            <a:pPr algn="l">
              <a:lnSpc>
                <a:spcPct val="100000"/>
              </a:lnSpc>
              <a:buNone/>
              <a:defRPr sz="2850" b="1">
                <a:solidFill>
                  <a:srgbClr val="000000"/>
                </a:solidFill>
                <a:latin typeface="Nimbus Sans"/>
                <a:ea typeface="Nimbus Sans"/>
                <a:cs typeface="Nimbus Sans"/>
              </a:defRPr>
            </a:pPr>
            <a:r>
              <a:rPr sz="2850" b="1">
                <a:solidFill>
                  <a:srgbClr val="000000"/>
                </a:solidFill>
                <a:latin typeface="Nimbus Sans"/>
                <a:ea typeface="Nimbus Sans"/>
                <a:cs typeface="Nimbus Sans"/>
              </a:rPr>
              <a:t>Decision after the demonstration</a:t>
            </a:r>
          </a:p>
        </p:txBody>
      </p:sp>
      <p:sp>
        <p:nvSpPr>
          <p:cNvPr id="2" name="Rectangle 1">
            <a:extLst>
              <a:ext uri="{FF2B5EF4-FFF2-40B4-BE49-F238E27FC236}">
                <a16:creationId xmlns:a16="http://schemas.microsoft.com/office/drawing/2014/main" id="{AF6AD9FC-594F-484D-B049-672E3CE34BAD}"/>
              </a:ext>
            </a:extLst>
          </p:cNvPr>
          <p:cNvSpPr>
            <a:spLocks noGrp="1"/>
          </p:cNvSpPr>
          <p:nvPr/>
        </p:nvSpPr>
        <p:spPr>
          <a:xfrm>
            <a:off x="781050" y="1581150"/>
            <a:ext cx="9620250" cy="876300"/>
          </a:xfrm>
          <a:prstGeom prst="rect">
            <a:avLst/>
          </a:prstGeom>
          <a:noFill/>
          <a:ln w="0">
            <a:noFill/>
          </a:ln>
        </p:spPr>
        <p:txBody>
          <a:bodyPr wrap="square" lIns="28575" tIns="19050" rIns="28575" bIns="19050" anchor="t">
            <a:normAutofit/>
          </a:bodyPr>
          <a:lstStyle/>
          <a:p>
            <a:pPr algn="l">
              <a:lnSpc>
                <a:spcPct val="106000"/>
              </a:lnSpc>
              <a:buNone/>
              <a:defRPr sz="2100" b="0">
                <a:solidFill>
                  <a:srgbClr val="3F3F3F"/>
                </a:solidFill>
                <a:latin typeface="Nimbus Sans"/>
                <a:ea typeface="Nimbus Sans"/>
                <a:cs typeface="Nimbus Sans"/>
              </a:defRPr>
            </a:pPr>
            <a:r>
              <a:rPr sz="2100" b="0">
                <a:solidFill>
                  <a:srgbClr val="3F3F3F"/>
                </a:solidFill>
                <a:latin typeface="Nimbus Sans"/>
                <a:ea typeface="Nimbus Sans"/>
                <a:cs typeface="Nimbus Sans"/>
              </a:rPr>
              <a:t>Does the normalized output preserve the information stakeholders expect from each supported file?</a:t>
            </a:r>
          </a:p>
        </p:txBody>
      </p:sp>
      <p:sp>
        <p:nvSpPr>
          <p:cNvPr id="3" name="Rectangle 2">
            <a:extLst>
              <a:ext uri="{FF2B5EF4-FFF2-40B4-BE49-F238E27FC236}">
                <a16:creationId xmlns:a16="http://schemas.microsoft.com/office/drawing/2014/main" id="{1F21D48A-C948-4A37-9AA9-04F21BD4447E}"/>
              </a:ext>
            </a:extLst>
          </p:cNvPr>
          <p:cNvSpPr>
            <a:spLocks noGrp="1"/>
          </p:cNvSpPr>
          <p:nvPr/>
        </p:nvSpPr>
        <p:spPr>
          <a:xfrm>
            <a:off x="800100" y="3143250"/>
            <a:ext cx="2857500" cy="400050"/>
          </a:xfrm>
          <a:prstGeom prst="rect">
            <a:avLst/>
          </a:prstGeom>
          <a:noFill/>
          <a:ln w="0">
            <a:noFill/>
          </a:ln>
        </p:spPr>
        <p:txBody>
          <a:bodyPr wrap="square" lIns="28575" tIns="19050" rIns="28575" bIns="19050" anchor="t">
            <a:normAutofit/>
          </a:bodyPr>
          <a:lstStyle/>
          <a:p>
            <a:pPr algn="l">
              <a:lnSpc>
                <a:spcPct val="100000"/>
              </a:lnSpc>
              <a:buNone/>
              <a:defRPr sz="1875" b="1">
                <a:solidFill>
                  <a:srgbClr val="000000"/>
                </a:solidFill>
                <a:latin typeface="Nimbus Sans"/>
                <a:ea typeface="Nimbus Sans"/>
                <a:cs typeface="Nimbus Sans"/>
              </a:defRPr>
            </a:pPr>
            <a:r>
              <a:rPr sz="1875" b="1">
                <a:solidFill>
                  <a:srgbClr val="000000"/>
                </a:solidFill>
                <a:latin typeface="Nimbus Sans"/>
                <a:ea typeface="Nimbus Sans"/>
                <a:cs typeface="Nimbus Sans"/>
              </a:rPr>
              <a:t>If approved</a:t>
            </a:r>
          </a:p>
        </p:txBody>
      </p:sp>
      <p:sp>
        <p:nvSpPr>
          <p:cNvPr id="4" name="Rectangle 3">
            <a:extLst>
              <a:ext uri="{FF2B5EF4-FFF2-40B4-BE49-F238E27FC236}">
                <a16:creationId xmlns:a16="http://schemas.microsoft.com/office/drawing/2014/main" id="{1EC6A3D8-99F3-40C8-A266-77D9F35E6905}"/>
              </a:ext>
            </a:extLst>
          </p:cNvPr>
          <p:cNvSpPr>
            <a:spLocks noGrp="1"/>
          </p:cNvSpPr>
          <p:nvPr/>
        </p:nvSpPr>
        <p:spPr>
          <a:xfrm>
            <a:off x="800100" y="3714750"/>
            <a:ext cx="5048250" cy="1104900"/>
          </a:xfrm>
          <a:prstGeom prst="rect">
            <a:avLst/>
          </a:prstGeom>
          <a:noFill/>
          <a:ln w="0">
            <a:noFill/>
          </a:ln>
        </p:spPr>
        <p:txBody>
          <a:bodyPr wrap="square" lIns="28575" tIns="19050" rIns="28575" bIns="19050" anchor="t">
            <a:normAutofit/>
          </a:bodyPr>
          <a:lstStyle/>
          <a:p>
            <a:pPr algn="l">
              <a:lnSpc>
                <a:spcPct val="110000"/>
              </a:lnSpc>
              <a:buNone/>
              <a:defRPr sz="1650" b="0">
                <a:solidFill>
                  <a:srgbClr val="3F3F3F"/>
                </a:solidFill>
                <a:latin typeface="Nimbus Sans"/>
                <a:ea typeface="Nimbus Sans"/>
                <a:cs typeface="Nimbus Sans"/>
              </a:defRPr>
            </a:pPr>
            <a:r>
              <a:rPr sz="1650" b="0" dirty="0">
                <a:solidFill>
                  <a:srgbClr val="3F3F3F"/>
                </a:solidFill>
                <a:latin typeface="Nimbus Sans"/>
                <a:ea typeface="Nimbus Sans"/>
                <a:cs typeface="Nimbus Sans"/>
              </a:rPr>
              <a:t>Evaluate the complete file set and record parser accuracy, warning rates, and exceptions.</a:t>
            </a:r>
          </a:p>
        </p:txBody>
      </p:sp>
      <p:sp>
        <p:nvSpPr>
          <p:cNvPr id="5" name="Rectangle 4">
            <a:extLst>
              <a:ext uri="{FF2B5EF4-FFF2-40B4-BE49-F238E27FC236}">
                <a16:creationId xmlns:a16="http://schemas.microsoft.com/office/drawing/2014/main" id="{968BC63D-3AAF-4241-9434-7C9A29C68EF4}"/>
              </a:ext>
            </a:extLst>
          </p:cNvPr>
          <p:cNvSpPr>
            <a:spLocks noGrp="1"/>
          </p:cNvSpPr>
          <p:nvPr/>
        </p:nvSpPr>
        <p:spPr>
          <a:xfrm>
            <a:off x="6762750" y="3143250"/>
            <a:ext cx="2857500" cy="400050"/>
          </a:xfrm>
          <a:prstGeom prst="rect">
            <a:avLst/>
          </a:prstGeom>
          <a:noFill/>
          <a:ln w="0">
            <a:noFill/>
          </a:ln>
        </p:spPr>
        <p:txBody>
          <a:bodyPr wrap="square" lIns="28575" tIns="19050" rIns="28575" bIns="19050" anchor="t">
            <a:normAutofit/>
          </a:bodyPr>
          <a:lstStyle/>
          <a:p>
            <a:pPr algn="l">
              <a:lnSpc>
                <a:spcPct val="100000"/>
              </a:lnSpc>
              <a:buNone/>
              <a:defRPr sz="1875" b="1">
                <a:solidFill>
                  <a:srgbClr val="000000"/>
                </a:solidFill>
                <a:latin typeface="Nimbus Sans"/>
                <a:ea typeface="Nimbus Sans"/>
                <a:cs typeface="Nimbus Sans"/>
              </a:defRPr>
            </a:pPr>
            <a:r>
              <a:rPr sz="1875" b="1">
                <a:solidFill>
                  <a:srgbClr val="000000"/>
                </a:solidFill>
                <a:latin typeface="Nimbus Sans"/>
                <a:ea typeface="Nimbus Sans"/>
                <a:cs typeface="Nimbus Sans"/>
              </a:rPr>
              <a:t>Then</a:t>
            </a:r>
          </a:p>
        </p:txBody>
      </p:sp>
      <p:sp>
        <p:nvSpPr>
          <p:cNvPr id="6" name="Rectangle 5">
            <a:extLst>
              <a:ext uri="{FF2B5EF4-FFF2-40B4-BE49-F238E27FC236}">
                <a16:creationId xmlns:a16="http://schemas.microsoft.com/office/drawing/2014/main" id="{70A1A674-0DBA-45EA-A64F-3F19B84809C3}"/>
              </a:ext>
            </a:extLst>
          </p:cNvPr>
          <p:cNvSpPr>
            <a:spLocks noGrp="1"/>
          </p:cNvSpPr>
          <p:nvPr/>
        </p:nvSpPr>
        <p:spPr>
          <a:xfrm>
            <a:off x="6762750" y="3714750"/>
            <a:ext cx="4572000" cy="1104900"/>
          </a:xfrm>
          <a:prstGeom prst="rect">
            <a:avLst/>
          </a:prstGeom>
          <a:noFill/>
          <a:ln w="0">
            <a:noFill/>
          </a:ln>
        </p:spPr>
        <p:txBody>
          <a:bodyPr wrap="square" lIns="28575" tIns="19050" rIns="28575" bIns="19050" anchor="t">
            <a:normAutofit/>
          </a:bodyPr>
          <a:lstStyle/>
          <a:p>
            <a:pPr algn="l">
              <a:lnSpc>
                <a:spcPct val="110000"/>
              </a:lnSpc>
              <a:buNone/>
              <a:defRPr sz="1650" b="0">
                <a:solidFill>
                  <a:srgbClr val="3F3F3F"/>
                </a:solidFill>
                <a:latin typeface="Nimbus Sans"/>
                <a:ea typeface="Nimbus Sans"/>
                <a:cs typeface="Nimbus Sans"/>
              </a:defRPr>
            </a:pPr>
            <a:r>
              <a:rPr sz="1650" b="0">
                <a:solidFill>
                  <a:srgbClr val="3F3F3F"/>
                </a:solidFill>
                <a:latin typeface="Nimbus Sans"/>
                <a:ea typeface="Nimbus Sans"/>
                <a:cs typeface="Nimbus Sans"/>
              </a:rPr>
              <a:t>Use the validated normalized records to make a separate storage and search architecture decision.</a:t>
            </a:r>
          </a:p>
        </p:txBody>
      </p:sp>
    </p:spTree>
    <p:extLst>
      <p:ext uri="{BB962C8B-B14F-4D97-AF65-F5344CB8AC3E}">
        <p14:creationId xmlns:p14="http://schemas.microsoft.com/office/powerpoint/2010/main" val="6049773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890AEE3-2628-4460-B5FC-BE6769A80E1E}"/>
              </a:ext>
            </a:extLst>
          </p:cNvPr>
          <p:cNvSpPr txBox="1"/>
          <p:nvPr/>
        </p:nvSpPr>
        <p:spPr>
          <a:xfrm>
            <a:off x="3699932" y="3037469"/>
            <a:ext cx="8077200" cy="1754326"/>
          </a:xfrm>
          <a:prstGeom prst="rect">
            <a:avLst/>
          </a:prstGeom>
          <a:noFill/>
        </p:spPr>
        <p:txBody>
          <a:bodyPr wrap="square" rtlCol="0">
            <a:spAutoFit/>
          </a:bodyPr>
          <a:lstStyle/>
          <a:p>
            <a:r>
              <a:rPr lang="en-US" sz="5400" dirty="0">
                <a:latin typeface="Lucida Handwriting" panose="03010101010101010101" pitchFamily="66" charset="0"/>
              </a:rPr>
              <a:t>Thank you</a:t>
            </a:r>
          </a:p>
          <a:p>
            <a:endParaRPr lang="en-US" sz="5400" dirty="0">
              <a:latin typeface="Lucida Handwriting" panose="03010101010101010101" pitchFamily="66" charset="0"/>
            </a:endParaRPr>
          </a:p>
        </p:txBody>
      </p:sp>
    </p:spTree>
    <p:extLst>
      <p:ext uri="{BB962C8B-B14F-4D97-AF65-F5344CB8AC3E}">
        <p14:creationId xmlns:p14="http://schemas.microsoft.com/office/powerpoint/2010/main" val="1046030680"/>
      </p:ext>
    </p:extLst>
  </p:cSld>
  <p:clrMapOvr>
    <a:masterClrMapping/>
  </p:clrMapOvr>
  <p:transition spd="slow">
    <p:push dir="u"/>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Ion</Template>
  <TotalTime>46</TotalTime>
  <Words>793</Words>
  <Application>Microsoft Office PowerPoint</Application>
  <DocSecurity>0</DocSecurity>
  <PresentationFormat>Widescreen</PresentationFormat>
  <Paragraphs>112</Paragraphs>
  <Slides>9</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Aptos</vt:lpstr>
      <vt:lpstr>Century Gothic</vt:lpstr>
      <vt:lpstr>Lucida Handwriting</vt:lpstr>
      <vt:lpstr>Nimbus Mono PS</vt:lpstr>
      <vt:lpstr>Nimbus Sans</vt:lpstr>
      <vt:lpstr>Wingdings 3</vt:lpstr>
      <vt:lpstr>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Fizza Hussain</cp:lastModifiedBy>
  <cp:revision>2</cp:revision>
  <dcterms:created xsi:type="dcterms:W3CDTF">2026-10-02T11:06:57Z</dcterms:created>
  <dcterms:modified xsi:type="dcterms:W3CDTF">2026-10-02T16:54:45Z</dcterms:modified>
</cp:coreProperties>
</file>